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85" r:id="rId12"/>
    <p:sldId id="286" r:id="rId14"/>
    <p:sldId id="287" r:id="rId15"/>
    <p:sldId id="266" r:id="rId16"/>
    <p:sldId id="268" r:id="rId17"/>
    <p:sldId id="288" r:id="rId18"/>
    <p:sldId id="289" r:id="rId19"/>
    <p:sldId id="290" r:id="rId20"/>
    <p:sldId id="292" r:id="rId21"/>
    <p:sldId id="291" r:id="rId22"/>
    <p:sldId id="293" r:id="rId23"/>
    <p:sldId id="294" r:id="rId24"/>
    <p:sldId id="295" r:id="rId25"/>
    <p:sldId id="267" r:id="rId26"/>
    <p:sldId id="296" r:id="rId27"/>
    <p:sldId id="297" r:id="rId28"/>
    <p:sldId id="298" r:id="rId29"/>
    <p:sldId id="299" r:id="rId30"/>
    <p:sldId id="301" r:id="rId31"/>
    <p:sldId id="307" r:id="rId32"/>
    <p:sldId id="274" r:id="rId33"/>
    <p:sldId id="275" r:id="rId34"/>
    <p:sldId id="305" r:id="rId35"/>
    <p:sldId id="280" r:id="rId36"/>
    <p:sldId id="281" r:id="rId37"/>
    <p:sldId id="304" r:id="rId38"/>
    <p:sldId id="284" r:id="rId39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124" d="100"/>
          <a:sy n="124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jpeg"/><Relationship Id="rId1" Type="http://schemas.openxmlformats.org/officeDocument/2006/relationships/image" Target="../media/image3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image" Target="../media/image37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4" Type="http://schemas.openxmlformats.org/officeDocument/2006/relationships/notesSlide" Target="../notesSlides/notesSlide6.xml"/><Relationship Id="rId73" Type="http://schemas.openxmlformats.org/officeDocument/2006/relationships/slideLayout" Target="../slideLayouts/slideLayout18.xml"/><Relationship Id="rId72" Type="http://schemas.openxmlformats.org/officeDocument/2006/relationships/tags" Target="../tags/tag67.xml"/><Relationship Id="rId71" Type="http://schemas.openxmlformats.org/officeDocument/2006/relationships/tags" Target="../tags/tag66.xml"/><Relationship Id="rId70" Type="http://schemas.openxmlformats.org/officeDocument/2006/relationships/image" Target="../media/image62.svg"/><Relationship Id="rId7" Type="http://schemas.openxmlformats.org/officeDocument/2006/relationships/image" Target="../media/image44.svg"/><Relationship Id="rId69" Type="http://schemas.openxmlformats.org/officeDocument/2006/relationships/image" Target="../media/image61.png"/><Relationship Id="rId68" Type="http://schemas.openxmlformats.org/officeDocument/2006/relationships/tags" Target="../tags/tag65.xml"/><Relationship Id="rId67" Type="http://schemas.openxmlformats.org/officeDocument/2006/relationships/tags" Target="../tags/tag64.xml"/><Relationship Id="rId66" Type="http://schemas.openxmlformats.org/officeDocument/2006/relationships/tags" Target="../tags/tag63.xml"/><Relationship Id="rId65" Type="http://schemas.openxmlformats.org/officeDocument/2006/relationships/tags" Target="../tags/tag62.xml"/><Relationship Id="rId64" Type="http://schemas.openxmlformats.org/officeDocument/2006/relationships/image" Target="../media/image60.svg"/><Relationship Id="rId63" Type="http://schemas.openxmlformats.org/officeDocument/2006/relationships/image" Target="../media/image59.png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image" Target="../media/image43.png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image" Target="../media/image58.svg"/><Relationship Id="rId55" Type="http://schemas.openxmlformats.org/officeDocument/2006/relationships/image" Target="../media/image57.png"/><Relationship Id="rId54" Type="http://schemas.openxmlformats.org/officeDocument/2006/relationships/tags" Target="../tags/tag55.xml"/><Relationship Id="rId53" Type="http://schemas.openxmlformats.org/officeDocument/2006/relationships/tags" Target="../tags/tag54.xml"/><Relationship Id="rId52" Type="http://schemas.openxmlformats.org/officeDocument/2006/relationships/tags" Target="../tags/tag53.xml"/><Relationship Id="rId51" Type="http://schemas.openxmlformats.org/officeDocument/2006/relationships/tags" Target="../tags/tag52.xml"/><Relationship Id="rId50" Type="http://schemas.openxmlformats.org/officeDocument/2006/relationships/image" Target="../media/image56.svg"/><Relationship Id="rId5" Type="http://schemas.openxmlformats.org/officeDocument/2006/relationships/tags" Target="../tags/tag20.xml"/><Relationship Id="rId49" Type="http://schemas.openxmlformats.org/officeDocument/2006/relationships/image" Target="../media/image55.png"/><Relationship Id="rId48" Type="http://schemas.openxmlformats.org/officeDocument/2006/relationships/tags" Target="../tags/tag51.xml"/><Relationship Id="rId47" Type="http://schemas.openxmlformats.org/officeDocument/2006/relationships/tags" Target="../tags/tag50.xml"/><Relationship Id="rId46" Type="http://schemas.openxmlformats.org/officeDocument/2006/relationships/tags" Target="../tags/tag49.xml"/><Relationship Id="rId45" Type="http://schemas.openxmlformats.org/officeDocument/2006/relationships/tags" Target="../tags/tag48.xml"/><Relationship Id="rId44" Type="http://schemas.openxmlformats.org/officeDocument/2006/relationships/tags" Target="../tags/tag47.xml"/><Relationship Id="rId43" Type="http://schemas.openxmlformats.org/officeDocument/2006/relationships/tags" Target="../tags/tag46.xml"/><Relationship Id="rId42" Type="http://schemas.openxmlformats.org/officeDocument/2006/relationships/image" Target="../media/image54.svg"/><Relationship Id="rId41" Type="http://schemas.openxmlformats.org/officeDocument/2006/relationships/image" Target="../media/image53.png"/><Relationship Id="rId40" Type="http://schemas.openxmlformats.org/officeDocument/2006/relationships/tags" Target="../tags/tag45.xml"/><Relationship Id="rId4" Type="http://schemas.openxmlformats.org/officeDocument/2006/relationships/tags" Target="../tags/tag19.xml"/><Relationship Id="rId39" Type="http://schemas.openxmlformats.org/officeDocument/2006/relationships/tags" Target="../tags/tag44.xml"/><Relationship Id="rId38" Type="http://schemas.openxmlformats.org/officeDocument/2006/relationships/tags" Target="../tags/tag43.xml"/><Relationship Id="rId37" Type="http://schemas.openxmlformats.org/officeDocument/2006/relationships/tags" Target="../tags/tag42.xml"/><Relationship Id="rId36" Type="http://schemas.openxmlformats.org/officeDocument/2006/relationships/image" Target="../media/image52.svg"/><Relationship Id="rId35" Type="http://schemas.openxmlformats.org/officeDocument/2006/relationships/image" Target="../media/image51.png"/><Relationship Id="rId34" Type="http://schemas.openxmlformats.org/officeDocument/2006/relationships/tags" Target="../tags/tag41.xml"/><Relationship Id="rId33" Type="http://schemas.openxmlformats.org/officeDocument/2006/relationships/tags" Target="../tags/tag40.xml"/><Relationship Id="rId32" Type="http://schemas.openxmlformats.org/officeDocument/2006/relationships/tags" Target="../tags/tag39.xml"/><Relationship Id="rId31" Type="http://schemas.openxmlformats.org/officeDocument/2006/relationships/tags" Target="../tags/tag38.xml"/><Relationship Id="rId30" Type="http://schemas.openxmlformats.org/officeDocument/2006/relationships/tags" Target="../tags/tag37.xml"/><Relationship Id="rId3" Type="http://schemas.openxmlformats.org/officeDocument/2006/relationships/tags" Target="../tags/tag18.xml"/><Relationship Id="rId29" Type="http://schemas.openxmlformats.org/officeDocument/2006/relationships/tags" Target="../tags/tag36.xml"/><Relationship Id="rId28" Type="http://schemas.openxmlformats.org/officeDocument/2006/relationships/image" Target="../media/image50.svg"/><Relationship Id="rId27" Type="http://schemas.openxmlformats.org/officeDocument/2006/relationships/image" Target="../media/image49.png"/><Relationship Id="rId26" Type="http://schemas.openxmlformats.org/officeDocument/2006/relationships/tags" Target="../tags/tag35.xml"/><Relationship Id="rId25" Type="http://schemas.openxmlformats.org/officeDocument/2006/relationships/tags" Target="../tags/tag34.xml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image" Target="../media/image48.svg"/><Relationship Id="rId21" Type="http://schemas.openxmlformats.org/officeDocument/2006/relationships/image" Target="../media/image47.png"/><Relationship Id="rId20" Type="http://schemas.openxmlformats.org/officeDocument/2006/relationships/tags" Target="../tags/tag31.xml"/><Relationship Id="rId2" Type="http://schemas.openxmlformats.org/officeDocument/2006/relationships/tags" Target="../tags/tag17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image" Target="../media/image46.svg"/><Relationship Id="rId13" Type="http://schemas.openxmlformats.org/officeDocument/2006/relationships/image" Target="../media/image45.png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5.jpeg"/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6549" y="2026828"/>
            <a:ext cx="7575633" cy="19773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marL="0" algn="ctr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4950" b="1">
                <a:solidFill>
                  <a:srgbClr val="4C678E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EduAgent个性化学习平台</a:t>
            </a:r>
            <a:endParaRPr lang="en-US" sz="4950" b="1">
              <a:solidFill>
                <a:srgbClr val="4C678E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917445" y="1954313"/>
            <a:ext cx="2357110" cy="419156"/>
          </a:xfrm>
          <a:prstGeom prst="rect">
            <a:avLst/>
          </a:prstGeom>
          <a:noFill/>
        </p:spPr>
        <p:txBody>
          <a:bodyPr vert="horz" wrap="square" lIns="66008" tIns="33052" rIns="66008" bIns="33052" rtlCol="0" anchor="ctr" anchorCtr="1">
            <a:noAutofit/>
          </a:bodyPr>
          <a:lstStyle/>
          <a:p>
            <a:pPr algn="ctr">
              <a:defRPr/>
            </a:pPr>
            <a:r>
              <a:rPr lang="en-US" sz="1425">
                <a:solidFill>
                  <a:srgbClr val="4C678E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2026 WORK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 rot="0">
            <a:off x="2366549" y="4073590"/>
            <a:ext cx="6187764" cy="1368440"/>
            <a:chOff x="2366549" y="4073590"/>
            <a:chExt cx="6187764" cy="1368440"/>
          </a:xfrm>
        </p:grpSpPr>
        <p:sp>
          <p:nvSpPr>
            <p:cNvPr id="5" name="AutoShape 5"/>
            <p:cNvSpPr/>
            <p:nvPr/>
          </p:nvSpPr>
          <p:spPr>
            <a:xfrm>
              <a:off x="2366549" y="4073590"/>
              <a:ext cx="1599008" cy="1368440"/>
            </a:xfrm>
            <a:prstGeom prst="rect">
              <a:avLst/>
            </a:prstGeom>
            <a:noFill/>
          </p:spPr>
          <p:txBody>
            <a:bodyPr vert="horz" wrap="square" lIns="66008" tIns="33052" rIns="66008" bIns="33052" rtlCol="0" anchor="ctr" anchorCtr="1">
              <a:noAutofit/>
            </a:bodyPr>
            <a:lstStyle/>
            <a:p>
              <a:pPr marL="0" algn="l" defTabSz="914400">
                <a:lnSpc>
                  <a:spcPct val="120000"/>
                </a:lnSpc>
                <a:defRPr sz="1800">
                  <a:solidFill>
                    <a:schemeClr val="tx1"/>
                  </a:solidFill>
                  <a:latin typeface="等线" panose="02010600030101010101" charset="-122"/>
                  <a:ea typeface="宋体" panose="02010600030101010101" pitchFamily="2" charset="-122"/>
                  <a:cs typeface="+mn-cs"/>
                </a:defRPr>
              </a:pP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4335780" y="4073590"/>
              <a:ext cx="4218533" cy="1321455"/>
            </a:xfrm>
            <a:prstGeom prst="rect">
              <a:avLst/>
            </a:prstGeom>
            <a:noFill/>
          </p:spPr>
          <p:txBody>
            <a:bodyPr vert="horz" wrap="square" lIns="66008" tIns="33052" rIns="66008" bIns="33052" rtlCol="0" anchor="ctr" anchorCtr="1">
              <a:noAutofit/>
            </a:bodyPr>
            <a:lstStyle/>
            <a:p>
              <a:pPr marL="0" algn="l" defTabSz="914400">
                <a:lnSpc>
                  <a:spcPct val="120000"/>
                </a:lnSpc>
                <a:defRPr sz="1800">
                  <a:solidFill>
                    <a:schemeClr val="tx1"/>
                  </a:solidFill>
                  <a:latin typeface="等线" panose="02010600030101010101" charset="-122"/>
                  <a:ea typeface="宋体" panose="02010600030101010101" pitchFamily="2" charset="-122"/>
                  <a:cs typeface="+mn-cs"/>
                </a:defRPr>
              </a:pPr>
              <a:r>
                <a:rPr lang="en-US" sz="2000">
                  <a:solidFill>
                    <a:srgbClr val="4C678E">
                      <a:alpha val="100000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队名：巧乐兹团队
队伍成员：吴友诚   陈嘉成  陈海洋
学校：厦门大学嘉庚学院
指导老师：康恺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3995756" y="2097216"/>
            <a:ext cx="4200487" cy="110857"/>
            <a:chOff x="3995756" y="2097216"/>
            <a:chExt cx="4200487" cy="110857"/>
          </a:xfrm>
        </p:grpSpPr>
        <p:cxnSp>
          <p:nvCxnSpPr>
            <p:cNvPr id="8" name="Connector 8"/>
            <p:cNvCxnSpPr/>
            <p:nvPr/>
          </p:nvCxnSpPr>
          <p:spPr>
            <a:xfrm>
              <a:off x="7154192" y="2163891"/>
              <a:ext cx="1042051" cy="0"/>
            </a:xfrm>
            <a:prstGeom prst="line">
              <a:avLst/>
            </a:prstGeom>
            <a:ln w="19050">
              <a:solidFill>
                <a:srgbClr val="4C678E">
                  <a:alpha val="100000"/>
                </a:srgbClr>
              </a:solidFill>
              <a:prstDash val="solid"/>
              <a:headEnd type="none"/>
              <a:tailEnd type="none"/>
            </a:ln>
          </p:spPr>
        </p:cxnSp>
        <p:sp>
          <p:nvSpPr>
            <p:cNvPr id="9" name="AutoShape 9"/>
            <p:cNvSpPr/>
            <p:nvPr/>
          </p:nvSpPr>
          <p:spPr>
            <a:xfrm>
              <a:off x="7154192" y="2097216"/>
              <a:ext cx="110857" cy="110857"/>
            </a:xfrm>
            <a:prstGeom prst="ellipse">
              <a:avLst/>
            </a:prstGeom>
            <a:solidFill>
              <a:srgbClr val="4C678E">
                <a:alpha val="100000"/>
              </a:srgbClr>
            </a:solidFill>
          </p:spPr>
        </p:sp>
        <p:cxnSp>
          <p:nvCxnSpPr>
            <p:cNvPr id="10" name="Connector 10"/>
            <p:cNvCxnSpPr/>
            <p:nvPr/>
          </p:nvCxnSpPr>
          <p:spPr>
            <a:xfrm>
              <a:off x="3995756" y="2163891"/>
              <a:ext cx="1042051" cy="0"/>
            </a:xfrm>
            <a:prstGeom prst="line">
              <a:avLst/>
            </a:prstGeom>
            <a:ln w="19050">
              <a:solidFill>
                <a:srgbClr val="4C678E">
                  <a:alpha val="100000"/>
                </a:srgbClr>
              </a:solidFill>
              <a:prstDash val="solid"/>
              <a:headEnd type="none"/>
              <a:tailEnd type="none"/>
            </a:ln>
          </p:spPr>
        </p:cxnSp>
        <p:sp>
          <p:nvSpPr>
            <p:cNvPr id="11" name="AutoShape 11"/>
            <p:cNvSpPr/>
            <p:nvPr/>
          </p:nvSpPr>
          <p:spPr>
            <a:xfrm>
              <a:off x="5037808" y="2097216"/>
              <a:ext cx="110857" cy="110857"/>
            </a:xfrm>
            <a:prstGeom prst="ellipse">
              <a:avLst/>
            </a:prstGeom>
            <a:solidFill>
              <a:srgbClr val="4C678E">
                <a:alpha val="100000"/>
              </a:srgbClr>
            </a:solidFill>
          </p:spPr>
        </p:sp>
      </p:grpSp>
      <p:sp>
        <p:nvSpPr>
          <p:cNvPr id="12" name="AutoShape 12"/>
          <p:cNvSpPr/>
          <p:nvPr/>
        </p:nvSpPr>
        <p:spPr>
          <a:xfrm>
            <a:off x="473638" y="302919"/>
            <a:ext cx="482143" cy="482143"/>
          </a:xfrm>
          <a:prstGeom prst="ellipse">
            <a:avLst/>
          </a:prstGeom>
          <a:solidFill>
            <a:srgbClr val="4C678E">
              <a:alpha val="100000"/>
            </a:srgbClr>
          </a:solidFill>
        </p:spPr>
      </p:sp>
      <p:sp>
        <p:nvSpPr>
          <p:cNvPr id="13" name="Freeform 13"/>
          <p:cNvSpPr/>
          <p:nvPr/>
        </p:nvSpPr>
        <p:spPr>
          <a:xfrm>
            <a:off x="585431" y="395662"/>
            <a:ext cx="258557" cy="258557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64080" y="1873005"/>
            <a:ext cx="2792730" cy="126301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72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目录</a:t>
            </a:r>
            <a:endParaRPr lang="en-US" sz="72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4612" y="3126495"/>
            <a:ext cx="2830830" cy="2533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975">
                <a:solidFill>
                  <a:srgbClr val="7F7F7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SCIENCE AND TECHNOLOGY</a:t>
            </a:r>
            <a:endParaRPr lang="en-US" sz="975">
              <a:solidFill>
                <a:srgbClr val="7F7F7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886450" y="1730646"/>
            <a:ext cx="571500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27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581775" y="1795902"/>
            <a:ext cx="4210541" cy="3266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项目背景与系统目标</a:t>
            </a:r>
            <a:endParaRPr lang="en-US" sz="2100">
              <a:solidFill>
                <a:srgbClr val="232323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886450" y="2551781"/>
            <a:ext cx="571500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27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581775" y="2617037"/>
            <a:ext cx="4210541" cy="3200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algn="l" defTabSz="914400">
              <a:lnSpc>
                <a:spcPct val="10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系统架构与核心功能概览</a:t>
            </a:r>
            <a:endParaRPr lang="en-US" sz="2100">
              <a:solidFill>
                <a:srgbClr val="232323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886450" y="3372915"/>
            <a:ext cx="571500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27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81775" y="3438172"/>
            <a:ext cx="4210541" cy="3266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algn="l" defTabSz="914400">
              <a:lnSpc>
                <a:spcPct val="10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学生端功能详解</a:t>
            </a:r>
            <a:endParaRPr lang="en-US" sz="2100">
              <a:solidFill>
                <a:srgbClr val="232323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895975" y="4194050"/>
            <a:ext cx="561975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27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581775" y="4259306"/>
            <a:ext cx="4210541" cy="3266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algn="l" defTabSz="914400">
              <a:lnSpc>
                <a:spcPct val="10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管理员端核心功能详解</a:t>
            </a:r>
            <a:endParaRPr lang="en-US" sz="2100">
              <a:solidFill>
                <a:srgbClr val="232323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886450" y="5013260"/>
            <a:ext cx="571500" cy="457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7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lang="en-US" sz="27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81775" y="5078516"/>
            <a:ext cx="4210541" cy="3266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项目总结与未来展望</a:t>
            </a:r>
            <a:endParaRPr lang="en-US" sz="2100">
              <a:solidFill>
                <a:srgbClr val="232323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29056" y="2526030"/>
            <a:ext cx="7644490" cy="18059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lang="en-US" sz="45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项目背景与系统目标</a:t>
            </a:r>
            <a:endParaRPr lang="en-US" sz="45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766844" y="1072555"/>
            <a:ext cx="3112760" cy="113895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8400" b="1">
                <a:solidFill>
                  <a:schemeClr val="accent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8400" b="1">
              <a:solidFill>
                <a:schemeClr val="accent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高校教学面临的三大矛盾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752047" y="1412707"/>
            <a:ext cx="3005958" cy="449635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>
            <a:off x="7833544" y="3730249"/>
            <a:ext cx="3737850" cy="2127687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4099978" y="1672358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进度与差异的矛盾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4099978" y="2110737"/>
            <a:ext cx="3431205" cy="1270638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传统大班授课模式难以适应学生多样化的认知基础和学习风格，大多数学生期望个性化学习路径。统一进度导致学习效率低下，亟需智能化解决方案。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099978" y="4036516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资源与效率的矛盾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099978" y="4470242"/>
            <a:ext cx="3431205" cy="1276624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海量学习资源缺乏精准分发机制，学生常陷入低效搜索困境。资源利用率低与学习效率低下形成恶性循环。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996869" y="1672358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需求与供给的矛盾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996869" y="2110737"/>
            <a:ext cx="3431205" cy="1270638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课后辅导资源有限，传统答疑方式响应滞后，无法满足学生即时解惑需求。供需失衡制约了教学质量提升。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项目核心目标与定位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 rot="2700000">
            <a:off x="1608934" y="1966945"/>
            <a:ext cx="1796464" cy="1796464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  <a:lumMod val="75000"/>
            </a:schemeClr>
          </a:solid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100000"/>
          </a:blip>
          <a:srcRect l="19351" r="19351"/>
          <a:stretch>
            <a:fillRect/>
          </a:stretch>
        </p:blipFill>
        <p:spPr>
          <a:xfrm>
            <a:off x="1608934" y="1965191"/>
            <a:ext cx="1794813" cy="1799972"/>
          </a:xfrm>
          <a:prstGeom prst="roundRect">
            <a:avLst/>
          </a:prstGeom>
          <a:ln w="19050">
            <a:solidFill>
              <a:schemeClr val="accent1"/>
            </a:solidFill>
            <a:prstDash val="solid"/>
          </a:ln>
        </p:spPr>
      </p:pic>
      <p:sp>
        <p:nvSpPr>
          <p:cNvPr id="5" name="TextBox 5"/>
          <p:cNvSpPr txBox="1"/>
          <p:nvPr/>
        </p:nvSpPr>
        <p:spPr>
          <a:xfrm>
            <a:off x="949625" y="3954618"/>
            <a:ext cx="3115083" cy="738707"/>
          </a:xfrm>
          <a:prstGeom prst="rect">
            <a:avLst/>
          </a:prstGeom>
        </p:spPr>
        <p:txBody>
          <a:bodyPr vert="horz" wrap="square" lIns="57150" tIns="123825" rIns="57150" bIns="123825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技术融合目标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57228" y="4621348"/>
            <a:ext cx="3048547" cy="1643668"/>
          </a:xfrm>
          <a:prstGeom prst="rect">
            <a:avLst/>
          </a:prstGeom>
        </p:spPr>
        <p:txBody>
          <a:bodyPr vert="horz" wrap="square" lIns="5715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将大语言模型、多智能体协作等AI技术与教学场景深度融合，构建智能化教学系统。实现从传统教学向个性化、智能化教育的转型。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 rot="2700000">
            <a:off x="5206201" y="1966945"/>
            <a:ext cx="1796464" cy="1796464"/>
          </a:xfrm>
          <a:prstGeom prst="roundRect">
            <a:avLst>
              <a:gd name="adj" fmla="val 16667"/>
            </a:avLst>
          </a:prstGeom>
          <a:solidFill>
            <a:schemeClr val="accent3">
              <a:alpha val="100000"/>
            </a:schemeClr>
          </a:solidFill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>
            <a:off x="5206201" y="1965191"/>
            <a:ext cx="1794813" cy="1799972"/>
          </a:xfrm>
          <a:prstGeom prst="roundRect">
            <a:avLst/>
          </a:prstGeom>
          <a:ln w="19050">
            <a:solidFill>
              <a:schemeClr val="accent1"/>
            </a:solidFill>
            <a:prstDash val="solid"/>
          </a:ln>
        </p:spPr>
      </p:pic>
      <p:sp>
        <p:nvSpPr>
          <p:cNvPr id="9" name="TextBox 9"/>
          <p:cNvSpPr txBox="1"/>
          <p:nvPr/>
        </p:nvSpPr>
        <p:spPr>
          <a:xfrm>
            <a:off x="4551539" y="3954618"/>
            <a:ext cx="3088468" cy="738707"/>
          </a:xfrm>
          <a:prstGeom prst="rect">
            <a:avLst/>
          </a:prstGeom>
        </p:spPr>
        <p:txBody>
          <a:bodyPr vert="horz" wrap="square" lIns="57150" tIns="123825" rIns="57150" bIns="123825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3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功能定位</a:t>
            </a:r>
            <a:endParaRPr lang="en-US" sz="2400" b="1">
              <a:solidFill>
                <a:schemeClr val="accent3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638036" y="4621348"/>
            <a:ext cx="3021933" cy="1643668"/>
          </a:xfrm>
          <a:prstGeom prst="rect">
            <a:avLst/>
          </a:prstGeom>
        </p:spPr>
        <p:txBody>
          <a:bodyPr vert="horz" wrap="square" lIns="5715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打造"一人一画像、一人一路径、一人一辅导"的个性化学习平台。通过AI导师24小时在线服务，解决高校教学资源分配不均问题。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 rot="2700000">
            <a:off x="8717324" y="1966945"/>
            <a:ext cx="1796464" cy="1796464"/>
          </a:xfrm>
          <a:prstGeom prst="roundRect">
            <a:avLst>
              <a:gd name="adj" fmla="val 16667"/>
            </a:avLst>
          </a:prstGeom>
          <a:solidFill>
            <a:schemeClr val="accent6">
              <a:alpha val="100000"/>
            </a:schemeClr>
          </a:solidFill>
        </p:spPr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>
            <a:off x="8717324" y="1965191"/>
            <a:ext cx="1794813" cy="1799972"/>
          </a:xfrm>
          <a:prstGeom prst="roundRect">
            <a:avLst/>
          </a:prstGeom>
          <a:ln w="19050">
            <a:solidFill>
              <a:schemeClr val="accent1"/>
            </a:solidFill>
            <a:prstDash val="solid"/>
          </a:ln>
        </p:spPr>
      </p:pic>
      <p:sp>
        <p:nvSpPr>
          <p:cNvPr id="13" name="TextBox 13"/>
          <p:cNvSpPr txBox="1"/>
          <p:nvPr/>
        </p:nvSpPr>
        <p:spPr>
          <a:xfrm>
            <a:off x="8104590" y="3954618"/>
            <a:ext cx="3021933" cy="738707"/>
          </a:xfrm>
          <a:prstGeom prst="rect">
            <a:avLst/>
          </a:prstGeom>
        </p:spPr>
        <p:txBody>
          <a:bodyPr vert="horz" wrap="square" lIns="57150" tIns="123825" rIns="57150" bIns="123825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6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数据驱动定位</a:t>
            </a:r>
            <a:endParaRPr lang="en-US" sz="2400" b="1">
              <a:solidFill>
                <a:schemeClr val="accent6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198886" y="4621348"/>
            <a:ext cx="2982011" cy="1643668"/>
          </a:xfrm>
          <a:prstGeom prst="rect">
            <a:avLst/>
          </a:prstGeom>
        </p:spPr>
        <p:txBody>
          <a:bodyPr vert="horz" wrap="square" lIns="5715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为教师和管理者提供精准学情分析工具，基于数据优化教学决策。实现从经验教学向数据驱动教学的转变。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系统核心优势与价值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488800" y="1777403"/>
            <a:ext cx="3049996" cy="4216695"/>
          </a:xfrm>
          <a:prstGeom prst="round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>
            <a:off x="5335151" y="1777403"/>
            <a:ext cx="3005958" cy="4216695"/>
          </a:xfrm>
          <a:prstGeom prst="round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335151" y="1339414"/>
            <a:ext cx="6203645" cy="292757"/>
          </a:xfrm>
          <a:prstGeom prst="roundRect">
            <a:avLst>
              <a:gd name="adj" fmla="val 45455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720401" y="1296052"/>
            <a:ext cx="3431205" cy="48135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无感画像技术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09373" y="1732534"/>
            <a:ext cx="4282862" cy="983867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通过对话交互和行为埋点静默生成六维学习画像，零干扰学习流程。相比传统问卷方式，数据采集更自然、准确。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09373" y="3369312"/>
            <a:ext cx="4282862" cy="1010481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学习路径、资源推荐等核心功能随画像实时迭代，确保内容与学习者需求高度匹配，实现真正的自适应学习体验。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09373" y="5010231"/>
            <a:ext cx="4282862" cy="1156860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学生获得个性化辅导，教师减轻负担，学校积累教学数据资产，形成多方共赢的智慧教育生态系统。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01351" y="2916535"/>
            <a:ext cx="3431205" cy="48135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动态调整机制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20401" y="4528880"/>
            <a:ext cx="3431205" cy="48135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多角色价值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29056" y="2526030"/>
            <a:ext cx="7644490" cy="18059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0" algn="l" defTabSz="914400">
              <a:lnSpc>
                <a:spcPct val="12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45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系统架构与</a:t>
            </a:r>
            <a:r>
              <a:rPr sz="4500" b="1">
                <a:solidFill>
                  <a:srgbClr val="4C678E"/>
                </a:solidFill>
                <a:ea typeface="Noto Sans SC" panose="020B0200000000000000" charset="-122"/>
              </a:rPr>
              <a:t>核心功能概览</a:t>
            </a:r>
            <a:endParaRPr sz="4500" b="1">
              <a:solidFill>
                <a:srgbClr val="4C678E"/>
              </a:solidFill>
              <a:ea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766844" y="1072555"/>
            <a:ext cx="3112760" cy="113895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8400" b="1">
                <a:solidFill>
                  <a:schemeClr val="accent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8400" b="1">
              <a:solidFill>
                <a:schemeClr val="accent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2508" y="4938029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4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</p:sp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三层解耦技术架构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145518" y="1368625"/>
            <a:ext cx="9900511" cy="4391356"/>
          </a:xfrm>
          <a:prstGeom prst="roundRect">
            <a:avLst>
              <a:gd name="adj" fmla="val 6364"/>
            </a:avLst>
          </a:prstGeom>
          <a:gradFill>
            <a:gsLst>
              <a:gs pos="0">
                <a:schemeClr val="lt2">
                  <a:alpha val="0"/>
                </a:schemeClr>
              </a:gs>
              <a:gs pos="96000">
                <a:schemeClr val="lt2">
                  <a:alpha val="100000"/>
                </a:schemeClr>
              </a:gs>
            </a:gsLst>
            <a:lin ang="16200000"/>
          </a:gradFill>
          <a:ln w="190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/>
            </a:gradFill>
            <a:prstDash val="solid"/>
          </a:ln>
        </p:spPr>
      </p:sp>
      <p:sp>
        <p:nvSpPr>
          <p:cNvPr id="5" name="AutoShape 5"/>
          <p:cNvSpPr/>
          <p:nvPr/>
        </p:nvSpPr>
        <p:spPr>
          <a:xfrm>
            <a:off x="642508" y="5173915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1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</p:sp>
      <p:sp>
        <p:nvSpPr>
          <p:cNvPr id="6" name="AutoShape 6"/>
          <p:cNvSpPr/>
          <p:nvPr/>
        </p:nvSpPr>
        <p:spPr>
          <a:xfrm>
            <a:off x="7861021" y="1599594"/>
            <a:ext cx="2967836" cy="492557"/>
          </a:xfrm>
          <a:prstGeom prst="rect">
            <a:avLst/>
          </a:prstGeom>
          <a:noFill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AI引擎架构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7861021" y="2092152"/>
            <a:ext cx="2967836" cy="1556388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基于Python FastAPI和LangGraph构建多智能体协作引擎，提供智能辅导、画像分析和资源推荐等核心功能。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50097" y="3815610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alphaModFix amt="100000"/>
          </a:blip>
          <a:srcRect t="21834" b="21834"/>
          <a:stretch>
            <a:fillRect/>
          </a:stretch>
        </p:blipFill>
        <p:spPr>
          <a:xfrm>
            <a:off x="8089903" y="3872142"/>
            <a:ext cx="2510071" cy="1267871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868689" y="480748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</p:spPr>
      </p:sp>
      <p:sp>
        <p:nvSpPr>
          <p:cNvPr id="11" name="AutoShape 11"/>
          <p:cNvSpPr/>
          <p:nvPr/>
        </p:nvSpPr>
        <p:spPr>
          <a:xfrm>
            <a:off x="4619178" y="1616124"/>
            <a:ext cx="2913571" cy="492557"/>
          </a:xfrm>
          <a:prstGeom prst="rect">
            <a:avLst/>
          </a:prstGeom>
          <a:noFill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后端架构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619178" y="2108682"/>
            <a:ext cx="2913571" cy="1556388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采用Spring Boot框架实现业务逻辑处理、数据持久化和安全认证，通过RESTful API与前端和AI引擎交互，保障系统稳定性和扩展性。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908116" y="3803564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</p:spPr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alphaModFix amt="100000"/>
          </a:blip>
          <a:srcRect t="22771" b="22771"/>
          <a:stretch>
            <a:fillRect/>
          </a:stretch>
        </p:blipFill>
        <p:spPr>
          <a:xfrm>
            <a:off x="4806514" y="3896014"/>
            <a:ext cx="2726235" cy="1484651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94254" y="232059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5693382" y="508670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</p:spPr>
      </p:sp>
      <p:sp>
        <p:nvSpPr>
          <p:cNvPr id="17" name="Freeform 17"/>
          <p:cNvSpPr/>
          <p:nvPr/>
        </p:nvSpPr>
        <p:spPr>
          <a:xfrm>
            <a:off x="5972877" y="5366195"/>
            <a:ext cx="393511" cy="39351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8" name="Freeform 18"/>
          <p:cNvSpPr/>
          <p:nvPr/>
        </p:nvSpPr>
        <p:spPr>
          <a:xfrm>
            <a:off x="9165292" y="5094559"/>
            <a:ext cx="359293" cy="35929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0883" y="184766"/>
                </a:moveTo>
                <a:lnTo>
                  <a:pt x="35557" y="89516"/>
                </a:lnTo>
                <a:cubicBezTo>
                  <a:pt x="-11849" y="144323"/>
                  <a:pt x="-11849" y="225219"/>
                  <a:pt x="35557" y="280016"/>
                </a:cubicBezTo>
                <a:lnTo>
                  <a:pt x="130883" y="184766"/>
                </a:lnTo>
                <a:close/>
              </a:path>
              <a:path w="304800" h="304800">
                <a:moveTo>
                  <a:pt x="190510" y="39605"/>
                </a:moveTo>
                <a:lnTo>
                  <a:pt x="190510" y="179108"/>
                </a:lnTo>
                <a:lnTo>
                  <a:pt x="91907" y="277749"/>
                </a:lnTo>
                <a:cubicBezTo>
                  <a:pt x="114081" y="294303"/>
                  <a:pt x="141018" y="304800"/>
                  <a:pt x="170783" y="304800"/>
                </a:cubicBezTo>
                <a:cubicBezTo>
                  <a:pt x="244821" y="304800"/>
                  <a:pt x="304800" y="244897"/>
                  <a:pt x="304800" y="170888"/>
                </a:cubicBezTo>
                <a:cubicBezTo>
                  <a:pt x="304810" y="103661"/>
                  <a:pt x="254965" y="49187"/>
                  <a:pt x="190510" y="39605"/>
                </a:cubicBezTo>
                <a:close/>
              </a:path>
              <a:path w="304800" h="304800">
                <a:moveTo>
                  <a:pt x="152400" y="152552"/>
                </a:moveTo>
                <a:lnTo>
                  <a:pt x="152400" y="0"/>
                </a:lnTo>
                <a:cubicBezTo>
                  <a:pt x="110881" y="2572"/>
                  <a:pt x="73371" y="18459"/>
                  <a:pt x="43082" y="43215"/>
                </a:cubicBezTo>
                <a:lnTo>
                  <a:pt x="152400" y="152552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9" name="AutoShape 19"/>
          <p:cNvSpPr/>
          <p:nvPr/>
        </p:nvSpPr>
        <p:spPr>
          <a:xfrm>
            <a:off x="1378393" y="1632654"/>
            <a:ext cx="2955042" cy="492557"/>
          </a:xfrm>
          <a:prstGeom prst="rect">
            <a:avLst/>
          </a:prstGeom>
          <a:noFill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前端架构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471799" y="2125212"/>
            <a:ext cx="2768229" cy="1556388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 Vue 3 框架构建学生端与管理员端交互界面，采用组件化开发模式，支持响应式布局，适配主流设备屏幕。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537210" y="3848669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</p:spPr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>
            <a:alphaModFix amt="100000"/>
          </a:blip>
          <a:srcRect t="20278" b="20278"/>
          <a:stretch>
            <a:fillRect/>
          </a:stretch>
        </p:blipFill>
        <p:spPr>
          <a:xfrm>
            <a:off x="1617020" y="3905202"/>
            <a:ext cx="2458663" cy="1267871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466364" y="233712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4" name="AutoShape 24"/>
          <p:cNvSpPr/>
          <p:nvPr/>
        </p:nvSpPr>
        <p:spPr>
          <a:xfrm>
            <a:off x="2370102" y="484054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</p:spPr>
      </p:sp>
      <p:sp>
        <p:nvSpPr>
          <p:cNvPr id="25" name="Freeform 25"/>
          <p:cNvSpPr/>
          <p:nvPr/>
        </p:nvSpPr>
        <p:spPr>
          <a:xfrm>
            <a:off x="2582871" y="5053309"/>
            <a:ext cx="526963" cy="52696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"/>
          <p:cNvSpPr/>
          <p:nvPr/>
        </p:nvSpPr>
        <p:spPr>
          <a:xfrm>
            <a:off x="0" y="5564771"/>
            <a:ext cx="12033763" cy="1317407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3" name="形状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学习行为采集与画像生成</a:t>
            </a:r>
            <a:endParaRPr lang="en-US" sz="3000" b="1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形状"/>
          <p:cNvSpPr/>
          <p:nvPr/>
        </p:nvSpPr>
        <p:spPr>
          <a:xfrm>
            <a:off x="1836554" y="6038850"/>
            <a:ext cx="8425779" cy="19050"/>
          </a:xfrm>
          <a:prstGeom prst="rect">
            <a:avLst/>
          </a:prstGeom>
          <a:noFill/>
        </p:spPr>
      </p:sp>
      <p:sp>
        <p:nvSpPr>
          <p:cNvPr id="5" name="形状"/>
          <p:cNvSpPr/>
          <p:nvPr/>
        </p:nvSpPr>
        <p:spPr>
          <a:xfrm>
            <a:off x="320475" y="5991225"/>
            <a:ext cx="11550596" cy="146379"/>
          </a:xfrm>
          <a:prstGeom prst="roundRect">
            <a:avLst>
              <a:gd name="adj" fmla="val 29782"/>
            </a:avLst>
          </a:prstGeom>
          <a:solidFill>
            <a:schemeClr val="accent1">
              <a:alpha val="100000"/>
            </a:schemeClr>
          </a:solidFill>
        </p:spPr>
      </p:sp>
      <p:grpSp>
        <p:nvGrpSpPr>
          <p:cNvPr id="6" name="Group 6"/>
          <p:cNvGrpSpPr/>
          <p:nvPr/>
        </p:nvGrpSpPr>
        <p:grpSpPr>
          <a:xfrm rot="0">
            <a:off x="756982" y="2038350"/>
            <a:ext cx="2407011" cy="4019550"/>
            <a:chOff x="756982" y="2038350"/>
            <a:chExt cx="2407011" cy="4019550"/>
          </a:xfrm>
        </p:grpSpPr>
        <p:sp>
          <p:nvSpPr>
            <p:cNvPr id="7" name="AutoShape 7"/>
            <p:cNvSpPr/>
            <p:nvPr/>
          </p:nvSpPr>
          <p:spPr>
            <a:xfrm>
              <a:off x="756982" y="3267075"/>
              <a:ext cx="2407012" cy="2790825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56982" y="2038350"/>
              <a:ext cx="2407012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9" name="Group 9"/>
          <p:cNvGrpSpPr/>
          <p:nvPr/>
        </p:nvGrpSpPr>
        <p:grpSpPr>
          <a:xfrm rot="0">
            <a:off x="776032" y="2057470"/>
            <a:ext cx="2369402" cy="3933686"/>
            <a:chOff x="776032" y="2057470"/>
            <a:chExt cx="2369402" cy="3933686"/>
          </a:xfrm>
        </p:grpSpPr>
        <p:sp>
          <p:nvSpPr>
            <p:cNvPr id="10" name="AutoShape 10"/>
            <p:cNvSpPr/>
            <p:nvPr/>
          </p:nvSpPr>
          <p:spPr>
            <a:xfrm>
              <a:off x="776032" y="3257620"/>
              <a:ext cx="2369402" cy="2733535"/>
            </a:xfrm>
            <a:prstGeom prst="rect">
              <a:avLst/>
            </a:prstGeom>
            <a:solidFill>
              <a:schemeClr val="lt1">
                <a:alpha val="100000"/>
              </a:schemeClr>
            </a:solidFill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776032" y="2057470"/>
              <a:ext cx="2369402" cy="2400299"/>
            </a:xfrm>
            <a:prstGeom prst="ellipse">
              <a:avLst/>
            </a:prstGeom>
            <a:solidFill>
              <a:schemeClr val="lt1">
                <a:alpha val="100000"/>
              </a:schemeClr>
            </a:solidFill>
          </p:spPr>
        </p:sp>
      </p:grpSp>
      <p:pic>
        <p:nvPicPr>
          <p:cNvPr id="12" name="图片 1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1166557" y="2296017"/>
            <a:ext cx="1598406" cy="16192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</p:pic>
      <p:sp>
        <p:nvSpPr>
          <p:cNvPr id="13" name="形状"/>
          <p:cNvSpPr/>
          <p:nvPr/>
        </p:nvSpPr>
        <p:spPr>
          <a:xfrm>
            <a:off x="785557" y="4021401"/>
            <a:ext cx="2350597" cy="4547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65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数据采集方式</a:t>
            </a:r>
            <a:endParaRPr lang="en-US" sz="1100"/>
          </a:p>
        </p:txBody>
      </p:sp>
      <p:sp>
        <p:nvSpPr>
          <p:cNvPr id="14" name="形状"/>
          <p:cNvSpPr txBox="1"/>
          <p:nvPr/>
        </p:nvSpPr>
        <p:spPr>
          <a:xfrm>
            <a:off x="766507" y="4515081"/>
            <a:ext cx="2322527" cy="1347864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marL="0"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通过学生与系统的交互行为（如学习时长、任务完成率、对话内容等）自动采集数据，无需学生手动填写问卷，确保数据采集的实时性和准确性。</a:t>
            </a:r>
            <a:endParaRPr lang="en-US" sz="13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3511699" y="1519581"/>
            <a:ext cx="2438400" cy="4538319"/>
            <a:chOff x="3511699" y="1519581"/>
            <a:chExt cx="2438400" cy="4538319"/>
          </a:xfrm>
        </p:grpSpPr>
        <p:sp>
          <p:nvSpPr>
            <p:cNvPr id="16" name="AutoShape 16"/>
            <p:cNvSpPr/>
            <p:nvPr/>
          </p:nvSpPr>
          <p:spPr>
            <a:xfrm>
              <a:off x="3511699" y="2748306"/>
              <a:ext cx="2438400" cy="3309594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3511699" y="1519581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18" name="Group 18"/>
          <p:cNvGrpSpPr/>
          <p:nvPr/>
        </p:nvGrpSpPr>
        <p:grpSpPr>
          <a:xfrm rot="0">
            <a:off x="3530749" y="1538700"/>
            <a:ext cx="2400300" cy="4519200"/>
            <a:chOff x="3530749" y="1538700"/>
            <a:chExt cx="2400300" cy="4519200"/>
          </a:xfrm>
        </p:grpSpPr>
        <p:sp>
          <p:nvSpPr>
            <p:cNvPr id="19" name="AutoShape 19"/>
            <p:cNvSpPr/>
            <p:nvPr/>
          </p:nvSpPr>
          <p:spPr>
            <a:xfrm>
              <a:off x="3530749" y="2738850"/>
              <a:ext cx="2400300" cy="3319050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3530749" y="1538700"/>
              <a:ext cx="2400300" cy="24003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pic>
        <p:nvPicPr>
          <p:cNvPr id="21" name="图片 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3921274" y="1872498"/>
            <a:ext cx="1619250" cy="1619250"/>
          </a:xfrm>
          <a:prstGeom prst="ellipse">
            <a:avLst/>
          </a:prstGeom>
          <a:ln w="57150">
            <a:solidFill>
              <a:srgbClr val="FFFFFF"/>
            </a:solidFill>
            <a:prstDash val="solid"/>
          </a:ln>
        </p:spPr>
      </p:pic>
      <p:sp>
        <p:nvSpPr>
          <p:cNvPr id="22" name="形状"/>
          <p:cNvSpPr/>
          <p:nvPr/>
        </p:nvSpPr>
        <p:spPr>
          <a:xfrm>
            <a:off x="3530749" y="3664557"/>
            <a:ext cx="2381250" cy="4547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65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画像初始化</a:t>
            </a:r>
            <a:endParaRPr lang="en-US" sz="1100"/>
          </a:p>
        </p:txBody>
      </p:sp>
      <p:sp>
        <p:nvSpPr>
          <p:cNvPr id="23" name="形状"/>
          <p:cNvSpPr txBox="1"/>
          <p:nvPr/>
        </p:nvSpPr>
        <p:spPr>
          <a:xfrm>
            <a:off x="3516391" y="4158236"/>
            <a:ext cx="2352814" cy="1347864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marL="0"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学生首次登录时，AI通过多轮对话自然采集基础水平、学习目标等信息，生成初始六维画像，为后续个性化学习提供基础。</a:t>
            </a:r>
            <a:endParaRPr lang="en-US" sz="13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24" name="Group 24"/>
          <p:cNvGrpSpPr/>
          <p:nvPr/>
        </p:nvGrpSpPr>
        <p:grpSpPr>
          <a:xfrm rot="0">
            <a:off x="6276080" y="1519581"/>
            <a:ext cx="2438400" cy="4538319"/>
            <a:chOff x="6276080" y="1519581"/>
            <a:chExt cx="2438400" cy="4538319"/>
          </a:xfrm>
        </p:grpSpPr>
        <p:sp>
          <p:nvSpPr>
            <p:cNvPr id="25" name="AutoShape 25"/>
            <p:cNvSpPr/>
            <p:nvPr/>
          </p:nvSpPr>
          <p:spPr>
            <a:xfrm>
              <a:off x="6276080" y="2748306"/>
              <a:ext cx="2438400" cy="3309594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6276080" y="1519581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27" name="Group 27"/>
          <p:cNvGrpSpPr/>
          <p:nvPr/>
        </p:nvGrpSpPr>
        <p:grpSpPr>
          <a:xfrm rot="0">
            <a:off x="6295130" y="1538700"/>
            <a:ext cx="2400300" cy="4519200"/>
            <a:chOff x="6295130" y="1538700"/>
            <a:chExt cx="2400300" cy="4519200"/>
          </a:xfrm>
        </p:grpSpPr>
        <p:sp>
          <p:nvSpPr>
            <p:cNvPr id="28" name="AutoShape 28"/>
            <p:cNvSpPr/>
            <p:nvPr/>
          </p:nvSpPr>
          <p:spPr>
            <a:xfrm>
              <a:off x="6295130" y="2738850"/>
              <a:ext cx="2400300" cy="3319050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6295130" y="1538700"/>
              <a:ext cx="2400300" cy="24003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pic>
        <p:nvPicPr>
          <p:cNvPr id="30" name="图片 3"/>
          <p:cNvPicPr>
            <a:picLocks noChangeAspect="1"/>
          </p:cNvPicPr>
          <p:nvPr/>
        </p:nvPicPr>
        <p:blipFill>
          <a:blip r:embed="rId3">
            <a:alphaModFix amt="100000"/>
          </a:blip>
          <a:srcRect l="16797" r="16797"/>
          <a:stretch>
            <a:fillRect/>
          </a:stretch>
        </p:blipFill>
        <p:spPr>
          <a:xfrm>
            <a:off x="6685655" y="1872498"/>
            <a:ext cx="1619250" cy="1619250"/>
          </a:xfrm>
          <a:prstGeom prst="ellipse">
            <a:avLst/>
          </a:prstGeom>
          <a:ln w="57150">
            <a:solidFill>
              <a:srgbClr val="FFFFFF"/>
            </a:solidFill>
            <a:prstDash val="solid"/>
          </a:ln>
        </p:spPr>
      </p:pic>
      <p:sp>
        <p:nvSpPr>
          <p:cNvPr id="31" name="形状"/>
          <p:cNvSpPr/>
          <p:nvPr/>
        </p:nvSpPr>
        <p:spPr>
          <a:xfrm>
            <a:off x="6295130" y="3664557"/>
            <a:ext cx="2381250" cy="4547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65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动态更新机制</a:t>
            </a:r>
            <a:endParaRPr lang="en-US" sz="1100"/>
          </a:p>
        </p:txBody>
      </p:sp>
      <p:sp>
        <p:nvSpPr>
          <p:cNvPr id="32" name="形状"/>
          <p:cNvSpPr txBox="1"/>
          <p:nvPr/>
        </p:nvSpPr>
        <p:spPr>
          <a:xfrm>
            <a:off x="6280772" y="4158236"/>
            <a:ext cx="2352814" cy="1347864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marL="0"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学生在平台的所有行为数据实时回流至AI引擎，后台静默更新画像各维度分值，确保画像始终反映学生最新学习状态。</a:t>
            </a:r>
            <a:endParaRPr lang="en-US" sz="13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33" name="Group 33"/>
          <p:cNvGrpSpPr/>
          <p:nvPr/>
        </p:nvGrpSpPr>
        <p:grpSpPr>
          <a:xfrm rot="0">
            <a:off x="9022814" y="2038350"/>
            <a:ext cx="2438400" cy="4019550"/>
            <a:chOff x="9022814" y="2038350"/>
            <a:chExt cx="2438400" cy="4019550"/>
          </a:xfrm>
        </p:grpSpPr>
        <p:sp>
          <p:nvSpPr>
            <p:cNvPr id="34" name="AutoShape 34"/>
            <p:cNvSpPr/>
            <p:nvPr/>
          </p:nvSpPr>
          <p:spPr>
            <a:xfrm>
              <a:off x="9022814" y="3267075"/>
              <a:ext cx="2438400" cy="2790825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9022814" y="2038350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</p:grpSp>
      <p:grpSp>
        <p:nvGrpSpPr>
          <p:cNvPr id="36" name="Group 36"/>
          <p:cNvGrpSpPr/>
          <p:nvPr/>
        </p:nvGrpSpPr>
        <p:grpSpPr>
          <a:xfrm rot="0">
            <a:off x="9041864" y="2057470"/>
            <a:ext cx="2400300" cy="3933687"/>
            <a:chOff x="9041864" y="2057470"/>
            <a:chExt cx="2400300" cy="3933687"/>
          </a:xfrm>
        </p:grpSpPr>
        <p:sp>
          <p:nvSpPr>
            <p:cNvPr id="37" name="AutoShape 37"/>
            <p:cNvSpPr/>
            <p:nvPr/>
          </p:nvSpPr>
          <p:spPr>
            <a:xfrm>
              <a:off x="9041864" y="3257620"/>
              <a:ext cx="2400300" cy="2733536"/>
            </a:xfrm>
            <a:prstGeom prst="rect">
              <a:avLst/>
            </a:prstGeom>
            <a:solidFill>
              <a:schemeClr val="lt1">
                <a:alpha val="100000"/>
              </a:schemeClr>
            </a:solidFill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9041864" y="2057470"/>
              <a:ext cx="2400300" cy="2400300"/>
            </a:xfrm>
            <a:prstGeom prst="ellipse">
              <a:avLst/>
            </a:prstGeom>
            <a:solidFill>
              <a:schemeClr val="lt1">
                <a:alpha val="100000"/>
              </a:schemeClr>
            </a:solidFill>
          </p:spPr>
        </p:sp>
      </p:grpSp>
      <p:pic>
        <p:nvPicPr>
          <p:cNvPr id="39" name="图片 4"/>
          <p:cNvPicPr>
            <a:picLocks noChangeAspect="1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>
            <a:off x="9432389" y="2296017"/>
            <a:ext cx="1619250" cy="16192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</p:pic>
      <p:sp>
        <p:nvSpPr>
          <p:cNvPr id="40" name="形状"/>
          <p:cNvSpPr/>
          <p:nvPr/>
        </p:nvSpPr>
        <p:spPr>
          <a:xfrm>
            <a:off x="9051389" y="4021401"/>
            <a:ext cx="2381250" cy="4547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65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画像可视化</a:t>
            </a:r>
            <a:endParaRPr lang="en-US" sz="1100"/>
          </a:p>
        </p:txBody>
      </p:sp>
      <p:sp>
        <p:nvSpPr>
          <p:cNvPr id="41" name="形状"/>
          <p:cNvSpPr txBox="1"/>
          <p:nvPr/>
        </p:nvSpPr>
        <p:spPr>
          <a:xfrm>
            <a:off x="9032339" y="4515081"/>
            <a:ext cx="2352814" cy="1347864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marL="0"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学生可在“学习画像”页查看雷达图形式的画像概览，直观了解自身学习特征，但后台运算逻辑保持透明，避免干扰学习流程。</a:t>
            </a:r>
            <a:endParaRPr lang="en-US" sz="13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"/>
          <p:cNvSpPr/>
          <p:nvPr/>
        </p:nvSpPr>
        <p:spPr>
          <a:xfrm>
            <a:off x="534909" y="1907184"/>
            <a:ext cx="3648075" cy="47775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marL="0" algn="r" defTabSz="914400">
              <a:lnSpc>
                <a:spcPct val="100000"/>
              </a:lnSpc>
              <a:spcBef>
                <a:spcPts val="270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资源差异化推送</a:t>
            </a:r>
            <a:endParaRPr lang="en-US" sz="1100"/>
          </a:p>
        </p:txBody>
      </p:sp>
      <p:sp>
        <p:nvSpPr>
          <p:cNvPr id="3" name="形状"/>
          <p:cNvSpPr/>
          <p:nvPr/>
        </p:nvSpPr>
        <p:spPr>
          <a:xfrm>
            <a:off x="8034635" y="1906360"/>
            <a:ext cx="3648075" cy="47940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动态路径调整</a:t>
            </a:r>
            <a:endParaRPr lang="en-US" sz="1100"/>
          </a:p>
        </p:txBody>
      </p:sp>
      <p:sp>
        <p:nvSpPr>
          <p:cNvPr id="4" name="形状"/>
          <p:cNvSpPr txBox="1"/>
          <p:nvPr/>
        </p:nvSpPr>
        <p:spPr>
          <a:xfrm>
            <a:off x="534909" y="2402205"/>
            <a:ext cx="3648075" cy="143773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根据六维画像特征，系统自动匹配思维导图、练习题目、拓展阅读、代码案例四种资源类型，确保内容与学生认知基础和学习习惯高度契合。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形状"/>
          <p:cNvSpPr txBox="1"/>
          <p:nvPr/>
        </p:nvSpPr>
        <p:spPr>
          <a:xfrm>
            <a:off x="8034635" y="2402205"/>
            <a:ext cx="3648075" cy="13898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学习路径随画像实时迭代，系统自动增加巩固任务或调整高阶内容占比，确保路径始终与学生能力水平同步。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形状"/>
          <p:cNvSpPr txBox="1"/>
          <p:nvPr/>
        </p:nvSpPr>
        <p:spPr>
          <a:xfrm>
            <a:off x="476023" y="265328"/>
            <a:ext cx="11239500" cy="88773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内容精准匹配与路径规划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形状"/>
          <p:cNvSpPr/>
          <p:nvPr/>
        </p:nvSpPr>
        <p:spPr>
          <a:xfrm>
            <a:off x="534909" y="4442458"/>
            <a:ext cx="3648075" cy="47775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场景模式切换</a:t>
            </a:r>
            <a:endParaRPr lang="en-US" sz="1100"/>
          </a:p>
        </p:txBody>
      </p:sp>
      <p:sp>
        <p:nvSpPr>
          <p:cNvPr id="8" name="形状"/>
          <p:cNvSpPr txBox="1"/>
          <p:nvPr/>
        </p:nvSpPr>
        <p:spPr>
          <a:xfrm>
            <a:off x="534909" y="4964243"/>
            <a:ext cx="3648075" cy="142221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支持“今日计划”“本周路径”“考试冲刺”等多种场景模式，学生可根据需求灵活切换，系统基于画像数据优化路径规划逻辑。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形状"/>
          <p:cNvSpPr/>
          <p:nvPr/>
        </p:nvSpPr>
        <p:spPr>
          <a:xfrm>
            <a:off x="8034635" y="4441633"/>
            <a:ext cx="3648075" cy="47940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无感调整体验</a:t>
            </a:r>
            <a:endParaRPr lang="en-US" sz="1100"/>
          </a:p>
        </p:txBody>
      </p:sp>
      <p:sp>
        <p:nvSpPr>
          <p:cNvPr id="10" name="形状"/>
          <p:cNvSpPr txBox="1"/>
          <p:nvPr/>
        </p:nvSpPr>
        <p:spPr>
          <a:xfrm>
            <a:off x="8034635" y="4964243"/>
            <a:ext cx="3648075" cy="142221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路径调整过程完全后台完成，学生仅感知到“刚好适合自己的任务序列”，无需手动干预，提升学习流畅度。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1" name="图片 1"/>
          <p:cNvPicPr>
            <a:picLocks noChangeAspect="1"/>
          </p:cNvPicPr>
          <p:nvPr/>
        </p:nvPicPr>
        <p:blipFill>
          <a:blip r:embed="rId1"/>
          <a:srcRect t="16052" b="16052"/>
          <a:stretch>
            <a:fillRect/>
          </a:stretch>
        </p:blipFill>
        <p:spPr>
          <a:xfrm>
            <a:off x="4471754" y="1456718"/>
            <a:ext cx="3177621" cy="2383216"/>
          </a:xfrm>
          <a:prstGeom prst="roundRect">
            <a:avLst/>
          </a:prstGeom>
        </p:spPr>
      </p:pic>
      <p:pic>
        <p:nvPicPr>
          <p:cNvPr id="12" name="图片 2"/>
          <p:cNvPicPr>
            <a:picLocks noChangeAspect="1"/>
          </p:cNvPicPr>
          <p:nvPr/>
        </p:nvPicPr>
        <p:blipFill>
          <a:blip r:embed="rId2"/>
          <a:srcRect l="8073" r="8073"/>
          <a:stretch>
            <a:fillRect/>
          </a:stretch>
        </p:blipFill>
        <p:spPr>
          <a:xfrm>
            <a:off x="4471754" y="4003244"/>
            <a:ext cx="3177621" cy="2383216"/>
          </a:xfrm>
          <a:prstGeom prst="round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425795" y="2384018"/>
            <a:ext cx="3415971" cy="3415971"/>
          </a:xfrm>
          <a:prstGeom prst="rect">
            <a:avLst/>
          </a:prstGeom>
        </p:spPr>
      </p:pic>
      <p:sp>
        <p:nvSpPr>
          <p:cNvPr id="3" name="形状"/>
          <p:cNvSpPr txBox="1"/>
          <p:nvPr/>
        </p:nvSpPr>
        <p:spPr>
          <a:xfrm>
            <a:off x="476023" y="265328"/>
            <a:ext cx="11239500" cy="88773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智能辅导与闭环迭代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形状"/>
          <p:cNvSpPr/>
          <p:nvPr/>
        </p:nvSpPr>
        <p:spPr>
          <a:xfrm>
            <a:off x="4113475" y="1643082"/>
            <a:ext cx="3657600" cy="221985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5" name="形状"/>
          <p:cNvSpPr txBox="1"/>
          <p:nvPr/>
        </p:nvSpPr>
        <p:spPr>
          <a:xfrm>
            <a:off x="4312581" y="1836534"/>
            <a:ext cx="3251104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个性化答疑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形状"/>
          <p:cNvSpPr txBox="1"/>
          <p:nvPr/>
        </p:nvSpPr>
        <p:spPr>
          <a:xfrm>
            <a:off x="4312581" y="2273337"/>
            <a:ext cx="3251104" cy="130869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AI导师根据学生画像特征提供差异化解答，基础扎实度高的学生获得深度讲解，基础薄弱学生则收到简化版示例，确保理解效果。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形状"/>
          <p:cNvSpPr/>
          <p:nvPr/>
        </p:nvSpPr>
        <p:spPr>
          <a:xfrm>
            <a:off x="8070842" y="1650556"/>
            <a:ext cx="3657600" cy="221985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8" name="形状"/>
          <p:cNvSpPr txBox="1"/>
          <p:nvPr/>
        </p:nvSpPr>
        <p:spPr>
          <a:xfrm>
            <a:off x="8269948" y="1844009"/>
            <a:ext cx="3251104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实时反馈机制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形状"/>
          <p:cNvSpPr txBox="1"/>
          <p:nvPr/>
        </p:nvSpPr>
        <p:spPr>
          <a:xfrm>
            <a:off x="8269948" y="2280812"/>
            <a:ext cx="3251104" cy="130121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对话过程中AI捕捉提问关键词、追问逻辑等数据，同步回流至画像引擎，实现“对话即迭代”的闭环优化。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形状"/>
          <p:cNvSpPr/>
          <p:nvPr/>
        </p:nvSpPr>
        <p:spPr>
          <a:xfrm>
            <a:off x="4120950" y="4294709"/>
            <a:ext cx="3657600" cy="221985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1" name="形状"/>
          <p:cNvSpPr txBox="1"/>
          <p:nvPr/>
        </p:nvSpPr>
        <p:spPr>
          <a:xfrm>
            <a:off x="4320056" y="4488162"/>
            <a:ext cx="3251104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多智能体协作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形状"/>
          <p:cNvSpPr txBox="1"/>
          <p:nvPr/>
        </p:nvSpPr>
        <p:spPr>
          <a:xfrm>
            <a:off x="4320056" y="4924965"/>
            <a:ext cx="3251104" cy="13161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智能体分工负责对话生成、画像计算等任务，保障个性化推荐的实时性与准确性。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形状"/>
          <p:cNvSpPr/>
          <p:nvPr/>
        </p:nvSpPr>
        <p:spPr>
          <a:xfrm>
            <a:off x="8078316" y="4302184"/>
            <a:ext cx="3657600" cy="221985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4" name="形状"/>
          <p:cNvSpPr txBox="1"/>
          <p:nvPr/>
        </p:nvSpPr>
        <p:spPr>
          <a:xfrm>
            <a:off x="8277423" y="4495637"/>
            <a:ext cx="3251104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学习报告生成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形状"/>
          <p:cNvSpPr txBox="1"/>
          <p:nvPr/>
        </p:nvSpPr>
        <p:spPr>
          <a:xfrm>
            <a:off x="8277423" y="4932440"/>
            <a:ext cx="3251104" cy="1308693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AI根据画像特征自动生成专属学习诊断书，针对能力短板提供改进建议，帮助学生明确下一阶段学习方向。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29056" y="2526030"/>
            <a:ext cx="7644490" cy="18059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lang="en-US" sz="45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学生端功能详解</a:t>
            </a:r>
            <a:endParaRPr lang="en-US" sz="45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766844" y="1072555"/>
            <a:ext cx="3112760" cy="113895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8400" b="1">
                <a:solidFill>
                  <a:schemeClr val="accent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8400" b="1">
              <a:solidFill>
                <a:schemeClr val="accent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32113" y="5184323"/>
            <a:ext cx="2429542" cy="1127284"/>
          </a:xfrm>
          <a:custGeom>
            <a:avLst/>
            <a:gdLst/>
            <a:ahLst/>
            <a:cxnLst/>
            <a:rect l="l" t="t" r="r" b="b"/>
            <a:pathLst>
              <a:path w="292" h="135">
                <a:moveTo>
                  <a:pt x="130" y="19"/>
                </a:moveTo>
                <a:cubicBezTo>
                  <a:pt x="75" y="38"/>
                  <a:pt x="31" y="73"/>
                  <a:pt x="0" y="118"/>
                </a:cubicBezTo>
                <a:cubicBezTo>
                  <a:pt x="52" y="134"/>
                  <a:pt x="108" y="135"/>
                  <a:pt x="163" y="116"/>
                </a:cubicBezTo>
                <a:cubicBezTo>
                  <a:pt x="218" y="97"/>
                  <a:pt x="262" y="61"/>
                  <a:pt x="292" y="17"/>
                </a:cubicBezTo>
                <a:cubicBezTo>
                  <a:pt x="241" y="0"/>
                  <a:pt x="184" y="0"/>
                  <a:pt x="130" y="19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" name="Freeform 3"/>
          <p:cNvSpPr/>
          <p:nvPr/>
        </p:nvSpPr>
        <p:spPr>
          <a:xfrm>
            <a:off x="6032113" y="4073042"/>
            <a:ext cx="1515142" cy="2095595"/>
          </a:xfrm>
          <a:custGeom>
            <a:avLst/>
            <a:gdLst/>
            <a:ahLst/>
            <a:cxnLst/>
            <a:rect l="l" t="t" r="r" b="b"/>
            <a:pathLst>
              <a:path w="182" h="251">
                <a:moveTo>
                  <a:pt x="49" y="96"/>
                </a:moveTo>
                <a:cubicBezTo>
                  <a:pt x="15" y="143"/>
                  <a:pt x="0" y="197"/>
                  <a:pt x="1" y="251"/>
                </a:cubicBezTo>
                <a:cubicBezTo>
                  <a:pt x="52" y="235"/>
                  <a:pt x="99" y="203"/>
                  <a:pt x="132" y="156"/>
                </a:cubicBezTo>
                <a:cubicBezTo>
                  <a:pt x="166" y="109"/>
                  <a:pt x="182" y="54"/>
                  <a:pt x="181" y="0"/>
                </a:cubicBezTo>
                <a:cubicBezTo>
                  <a:pt x="130" y="16"/>
                  <a:pt x="83" y="49"/>
                  <a:pt x="49" y="96"/>
                </a:cubicBezTo>
              </a:path>
            </a:pathLst>
          </a:custGeom>
          <a:solidFill>
            <a:schemeClr val="accent1">
              <a:alpha val="60000"/>
            </a:schemeClr>
          </a:solidFill>
        </p:spPr>
      </p:sp>
      <p:sp>
        <p:nvSpPr>
          <p:cNvPr id="4" name="Freeform 4"/>
          <p:cNvSpPr/>
          <p:nvPr/>
        </p:nvSpPr>
        <p:spPr>
          <a:xfrm>
            <a:off x="3612763" y="5184323"/>
            <a:ext cx="2419350" cy="1127284"/>
          </a:xfrm>
          <a:custGeom>
            <a:avLst/>
            <a:gdLst/>
            <a:ahLst/>
            <a:cxnLst/>
            <a:rect l="l" t="t" r="r" b="b"/>
            <a:pathLst>
              <a:path w="291" h="135">
                <a:moveTo>
                  <a:pt x="162" y="19"/>
                </a:moveTo>
                <a:cubicBezTo>
                  <a:pt x="217" y="38"/>
                  <a:pt x="261" y="73"/>
                  <a:pt x="291" y="118"/>
                </a:cubicBezTo>
                <a:cubicBezTo>
                  <a:pt x="240" y="134"/>
                  <a:pt x="184" y="135"/>
                  <a:pt x="129" y="116"/>
                </a:cubicBezTo>
                <a:cubicBezTo>
                  <a:pt x="74" y="97"/>
                  <a:pt x="30" y="61"/>
                  <a:pt x="0" y="17"/>
                </a:cubicBezTo>
                <a:cubicBezTo>
                  <a:pt x="51" y="0"/>
                  <a:pt x="108" y="0"/>
                  <a:pt x="162" y="19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5" name="Freeform 5"/>
          <p:cNvSpPr/>
          <p:nvPr/>
        </p:nvSpPr>
        <p:spPr>
          <a:xfrm>
            <a:off x="4527163" y="4073042"/>
            <a:ext cx="1513713" cy="2095595"/>
          </a:xfrm>
          <a:custGeom>
            <a:avLst/>
            <a:gdLst/>
            <a:ahLst/>
            <a:cxnLst/>
            <a:rect l="l" t="t" r="r" b="b"/>
            <a:pathLst>
              <a:path w="182" h="251">
                <a:moveTo>
                  <a:pt x="133" y="96"/>
                </a:moveTo>
                <a:cubicBezTo>
                  <a:pt x="167" y="143"/>
                  <a:pt x="182" y="197"/>
                  <a:pt x="181" y="251"/>
                </a:cubicBezTo>
                <a:cubicBezTo>
                  <a:pt x="130" y="235"/>
                  <a:pt x="83" y="203"/>
                  <a:pt x="50" y="156"/>
                </a:cubicBezTo>
                <a:cubicBezTo>
                  <a:pt x="16" y="109"/>
                  <a:pt x="0" y="54"/>
                  <a:pt x="1" y="0"/>
                </a:cubicBezTo>
                <a:cubicBezTo>
                  <a:pt x="52" y="16"/>
                  <a:pt x="99" y="49"/>
                  <a:pt x="133" y="96"/>
                </a:cubicBezTo>
              </a:path>
            </a:pathLst>
          </a:custGeom>
          <a:solidFill>
            <a:schemeClr val="accent1">
              <a:alpha val="60000"/>
            </a:schemeClr>
          </a:solidFill>
        </p:spPr>
      </p:sp>
      <p:sp>
        <p:nvSpPr>
          <p:cNvPr id="6" name="Freeform 6"/>
          <p:cNvSpPr/>
          <p:nvPr/>
        </p:nvSpPr>
        <p:spPr>
          <a:xfrm>
            <a:off x="5609203" y="3588886"/>
            <a:ext cx="856012" cy="2579751"/>
          </a:xfrm>
          <a:custGeom>
            <a:avLst/>
            <a:gdLst/>
            <a:ahLst/>
            <a:cxnLst/>
            <a:rect l="l" t="t" r="r" b="b"/>
            <a:pathLst>
              <a:path w="103" h="309">
                <a:moveTo>
                  <a:pt x="0" y="154"/>
                </a:moveTo>
                <a:cubicBezTo>
                  <a:pt x="0" y="212"/>
                  <a:pt x="19" y="266"/>
                  <a:pt x="51" y="309"/>
                </a:cubicBezTo>
                <a:cubicBezTo>
                  <a:pt x="84" y="266"/>
                  <a:pt x="103" y="212"/>
                  <a:pt x="103" y="154"/>
                </a:cubicBezTo>
                <a:cubicBezTo>
                  <a:pt x="103" y="97"/>
                  <a:pt x="84" y="43"/>
                  <a:pt x="51" y="0"/>
                </a:cubicBezTo>
                <a:cubicBezTo>
                  <a:pt x="19" y="43"/>
                  <a:pt x="0" y="97"/>
                  <a:pt x="0" y="154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7" name="TextBox 7"/>
          <p:cNvSpPr txBox="1"/>
          <p:nvPr/>
        </p:nvSpPr>
        <p:spPr>
          <a:xfrm>
            <a:off x="463378" y="4535812"/>
            <a:ext cx="2931336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状态感知区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49597" y="5004954"/>
            <a:ext cx="2931336" cy="139850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动态显示时段化问候语与智能生成的任务清单，实现学习安排的零配置同步。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88216" y="2422580"/>
            <a:ext cx="2931336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目标追踪区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74435" y="2891723"/>
            <a:ext cx="2931336" cy="139850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可视化呈现总学习时长、主题完成率及学科进度百分比，数据来源于画像引擎的实时计算。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540944" y="1591726"/>
            <a:ext cx="3020092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能力评估区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564095" y="2060868"/>
            <a:ext cx="2931336" cy="139850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通过学习评分、节奏适配度等指标隐性反馈画像结果，采用非数值化表达（如“快/慢节奏提示”）降低认知负荷。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261908" y="2422580"/>
            <a:ext cx="2931336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交互设计逻辑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248127" y="2891723"/>
            <a:ext cx="2931336" cy="139850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所有模块数据均与六维画像动态关联，例如学科时长占比反映「知识掌握度」与「自主学习性」的交叉分析结果。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814029" y="4535812"/>
            <a:ext cx="2931336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后台同步机制</a:t>
            </a:r>
            <a:endParaRPr lang="en-US" sz="21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800248" y="5004954"/>
            <a:ext cx="2931336" cy="139850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采用增量更新技术确保数据实时性，每次登录触发画像轻量级重算，保证总览信息与最新学习状态严格一致。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首页/学习总览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794737" y="5266000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27163" y="4396796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607298" y="4073042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97625" y="4396796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495431" y="5266000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首页展示图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图片 1" descr="默认图片"/>
          <p:cNvPicPr/>
          <p:nvPr/>
        </p:nvPicPr>
        <p:blipFill>
          <a:blip r:embed="rId1"/>
          <a:stretch>
            <a:fillRect/>
          </a:stretch>
        </p:blipFill>
        <p:spPr>
          <a:xfrm>
            <a:off x="594938" y="1294973"/>
            <a:ext cx="5105400" cy="4895850"/>
          </a:xfrm>
          <a:prstGeom prst="rect">
            <a:avLst/>
          </a:prstGeom>
        </p:spPr>
      </p:pic>
      <p:pic>
        <p:nvPicPr>
          <p:cNvPr id="4" name="图片 2" descr="默认图片"/>
          <p:cNvPicPr/>
          <p:nvPr/>
        </p:nvPicPr>
        <p:blipFill>
          <a:blip r:embed="rId2"/>
          <a:stretch>
            <a:fillRect/>
          </a:stretch>
        </p:blipFill>
        <p:spPr>
          <a:xfrm>
            <a:off x="6412697" y="1256558"/>
            <a:ext cx="5048250" cy="4895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"/>
          <p:cNvSpPr txBox="1"/>
          <p:nvPr/>
        </p:nvSpPr>
        <p:spPr>
          <a:xfrm>
            <a:off x="462859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个性化学习资源推送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1466885" y="2187982"/>
            <a:ext cx="2739046" cy="2739046"/>
          </a:xfrm>
          <a:prstGeom prst="ellipse">
            <a:avLst/>
          </a:prstGeom>
        </p:spPr>
      </p:pic>
      <p:sp>
        <p:nvSpPr>
          <p:cNvPr id="4" name="形状"/>
          <p:cNvSpPr/>
          <p:nvPr/>
        </p:nvSpPr>
        <p:spPr>
          <a:xfrm>
            <a:off x="4509171" y="1060948"/>
            <a:ext cx="583851" cy="5430859"/>
          </a:xfrm>
          <a:custGeom>
            <a:avLst/>
            <a:gdLst/>
            <a:ahLst/>
            <a:cxnLst/>
            <a:rect l="l" t="t" r="r" b="b"/>
            <a:pathLst>
              <a:path w="583851" h="3533966">
                <a:moveTo>
                  <a:pt x="583851" y="0"/>
                </a:moveTo>
                <a:quadBezTo>
                  <a:pt x="291925" y="0"/>
                  <a:pt x="291925" y="353397"/>
                </a:quadBezTo>
                <a:lnTo>
                  <a:pt x="291925" y="1413586"/>
                </a:lnTo>
                <a:quadBezTo>
                  <a:pt x="291925" y="1766983"/>
                  <a:pt x="0" y="1766983"/>
                </a:quadBezTo>
                <a:quadBezTo>
                  <a:pt x="291925" y="1766983"/>
                  <a:pt x="291925" y="2120379"/>
                </a:quadBezTo>
                <a:lnTo>
                  <a:pt x="291925" y="3180569"/>
                </a:lnTo>
                <a:quadBezTo>
                  <a:pt x="291925" y="3533966"/>
                  <a:pt x="583851" y="3533966"/>
                </a:quadBezTo>
              </a:path>
            </a:pathLst>
          </a:cu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" name="形状"/>
          <p:cNvSpPr/>
          <p:nvPr/>
        </p:nvSpPr>
        <p:spPr>
          <a:xfrm>
            <a:off x="5308703" y="3776377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  <a:alpha val="100000"/>
            </a:schemeClr>
          </a:solidFill>
        </p:spPr>
      </p:sp>
      <p:sp>
        <p:nvSpPr>
          <p:cNvPr id="6" name="形状"/>
          <p:cNvSpPr/>
          <p:nvPr/>
        </p:nvSpPr>
        <p:spPr>
          <a:xfrm>
            <a:off x="6323405" y="3720308"/>
            <a:ext cx="3165062" cy="4547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marL="0" algn="ctr" defTabSz="914400">
              <a:lnSpc>
                <a:spcPct val="10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拓展阅读材料适配</a:t>
            </a:r>
            <a:endParaRPr lang="en-US" sz="1100"/>
          </a:p>
        </p:txBody>
      </p:sp>
      <p:sp>
        <p:nvSpPr>
          <p:cNvPr id="7" name="形状"/>
          <p:cNvSpPr txBox="1"/>
          <p:nvPr/>
        </p:nvSpPr>
        <p:spPr>
          <a:xfrm>
            <a:off x="5413805" y="4359144"/>
            <a:ext cx="5194466" cy="567884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marL="0" algn="l" defTabSz="914400">
              <a:lnSpc>
                <a:spcPct val="115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自主学习性强者推送前沿文献，自主性弱者获取科普内容，资源类型与学习习惯特征严格对应。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形状"/>
          <p:cNvSpPr/>
          <p:nvPr/>
        </p:nvSpPr>
        <p:spPr>
          <a:xfrm>
            <a:off x="5308703" y="2438528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lt2">
              <a:lumMod val="75000"/>
              <a:alpha val="100000"/>
            </a:schemeClr>
          </a:solidFill>
        </p:spPr>
      </p:sp>
      <p:sp>
        <p:nvSpPr>
          <p:cNvPr id="9" name="形状"/>
          <p:cNvSpPr/>
          <p:nvPr/>
        </p:nvSpPr>
        <p:spPr>
          <a:xfrm>
            <a:off x="6375956" y="2389890"/>
            <a:ext cx="3165062" cy="4547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marL="0" algn="ctr" defTabSz="914400">
              <a:lnSpc>
                <a:spcPct val="10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练习题目精准匹配</a:t>
            </a:r>
            <a:endParaRPr lang="en-US" sz="1100"/>
          </a:p>
        </p:txBody>
      </p:sp>
      <p:sp>
        <p:nvSpPr>
          <p:cNvPr id="10" name="形状"/>
          <p:cNvSpPr txBox="1"/>
          <p:nvPr/>
        </p:nvSpPr>
        <p:spPr>
          <a:xfrm>
            <a:off x="5413805" y="3026868"/>
            <a:ext cx="5194466" cy="693440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marL="0" algn="l" defTabSz="914400">
              <a:lnSpc>
                <a:spcPct val="115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错误规避力低的学生收到高频错题变式训练，知识掌握度中等者获取进阶题目，系统自动识别能力短板进行靶向推送。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形状"/>
          <p:cNvSpPr/>
          <p:nvPr/>
        </p:nvSpPr>
        <p:spPr>
          <a:xfrm>
            <a:off x="5308703" y="1121362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  <a:alpha val="100000"/>
            </a:schemeClr>
          </a:solidFill>
        </p:spPr>
      </p:sp>
      <p:sp>
        <p:nvSpPr>
          <p:cNvPr id="12" name="形状"/>
          <p:cNvSpPr/>
          <p:nvPr/>
        </p:nvSpPr>
        <p:spPr>
          <a:xfrm>
            <a:off x="6323405" y="1060948"/>
            <a:ext cx="3165062" cy="4547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marL="0" algn="ctr" defTabSz="914400">
              <a:lnSpc>
                <a:spcPct val="10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800" b="1">
                <a:solidFill>
                  <a:schemeClr val="l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思维导图差异化</a:t>
            </a:r>
            <a:endParaRPr lang="en-US" sz="1100"/>
          </a:p>
        </p:txBody>
      </p:sp>
      <p:sp>
        <p:nvSpPr>
          <p:cNvPr id="13" name="形状"/>
          <p:cNvSpPr txBox="1"/>
          <p:nvPr/>
        </p:nvSpPr>
        <p:spPr>
          <a:xfrm>
            <a:off x="5413805" y="1697919"/>
            <a:ext cx="5194466" cy="691971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marL="0" algn="l" defTabSz="914400">
              <a:lnSpc>
                <a:spcPct val="115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根据学生基础扎实度动态生成思维导图内容，基础薄弱者获得分层拆解版，扎实者获取知识点关联拓展版，匹配认知水平差异。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形状"/>
          <p:cNvSpPr/>
          <p:nvPr/>
        </p:nvSpPr>
        <p:spPr>
          <a:xfrm>
            <a:off x="5308703" y="5057120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  <a:alpha val="100000"/>
            </a:schemeClr>
          </a:solidFill>
        </p:spPr>
      </p:sp>
      <p:sp>
        <p:nvSpPr>
          <p:cNvPr id="15" name="形状"/>
          <p:cNvSpPr/>
          <p:nvPr/>
        </p:nvSpPr>
        <p:spPr>
          <a:xfrm>
            <a:off x="6323405" y="4998754"/>
            <a:ext cx="3165062" cy="4547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marL="0" algn="ctr" defTabSz="914400">
              <a:lnSpc>
                <a:spcPct val="10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代码案例精准推送</a:t>
            </a:r>
            <a:endParaRPr lang="en-US" sz="1100"/>
          </a:p>
        </p:txBody>
      </p:sp>
      <p:sp>
        <p:nvSpPr>
          <p:cNvPr id="16" name="形状"/>
          <p:cNvSpPr txBox="1"/>
          <p:nvPr/>
        </p:nvSpPr>
        <p:spPr>
          <a:xfrm>
            <a:off x="5308703" y="5604832"/>
            <a:ext cx="5194466" cy="964797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marL="0" algn="l" defTabSz="914400">
              <a:lnSpc>
                <a:spcPct val="115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编程初学者获得分步注释的基础案例，进阶学习者获取综合实战项目源码，系统依据编程能力等级与语法掌握度动态匹配，降低学习门槛。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"/>
          <p:cNvSpPr/>
          <p:nvPr/>
        </p:nvSpPr>
        <p:spPr>
          <a:xfrm>
            <a:off x="4552145" y="1505857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</p:spPr>
      </p:sp>
      <p:sp>
        <p:nvSpPr>
          <p:cNvPr id="3" name="形状"/>
          <p:cNvSpPr/>
          <p:nvPr/>
        </p:nvSpPr>
        <p:spPr>
          <a:xfrm>
            <a:off x="8129196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</p:spPr>
      </p:sp>
      <p:sp>
        <p:nvSpPr>
          <p:cNvPr id="4" name="形状"/>
          <p:cNvSpPr/>
          <p:nvPr/>
        </p:nvSpPr>
        <p:spPr>
          <a:xfrm>
            <a:off x="1065923" y="3967915"/>
            <a:ext cx="3087256" cy="2448513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2">
                  <a:alpha val="100000"/>
                </a:schemeClr>
              </a:gs>
            </a:gsLst>
            <a:lin ang="16200000"/>
          </a:gradFill>
        </p:spPr>
      </p:sp>
      <p:sp>
        <p:nvSpPr>
          <p:cNvPr id="5" name="形状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动态调整的学习路径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形状"/>
          <p:cNvSpPr/>
          <p:nvPr/>
        </p:nvSpPr>
        <p:spPr>
          <a:xfrm>
            <a:off x="751830" y="3591361"/>
            <a:ext cx="3577051" cy="561048"/>
          </a:xfrm>
          <a:custGeom>
            <a:avLst/>
            <a:gdLst/>
            <a:ahLst/>
            <a:cxnLst/>
            <a:rect l="l" t="t" r="r" b="b"/>
            <a:pathLst>
              <a:path w="4229101" h="507819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7" name="形状"/>
          <p:cNvSpPr/>
          <p:nvPr/>
        </p:nvSpPr>
        <p:spPr>
          <a:xfrm>
            <a:off x="4307248" y="3591655"/>
            <a:ext cx="3577051" cy="561048"/>
          </a:xfrm>
          <a:custGeom>
            <a:avLst/>
            <a:gdLst/>
            <a:ahLst/>
            <a:cxnLst/>
            <a:rect l="l" t="t" r="r" b="b"/>
            <a:pathLst>
              <a:path w="4229101" h="507819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4">
              <a:alpha val="100000"/>
            </a:schemeClr>
          </a:solidFill>
        </p:spPr>
      </p:sp>
      <p:sp>
        <p:nvSpPr>
          <p:cNvPr id="8" name="形状"/>
          <p:cNvSpPr/>
          <p:nvPr/>
        </p:nvSpPr>
        <p:spPr>
          <a:xfrm>
            <a:off x="7884299" y="3591655"/>
            <a:ext cx="3577051" cy="561048"/>
          </a:xfrm>
          <a:custGeom>
            <a:avLst/>
            <a:gdLst/>
            <a:ahLst/>
            <a:cxnLst/>
            <a:rect l="l" t="t" r="r" b="b"/>
            <a:pathLst>
              <a:path w="4229101" h="507819">
                <a:moveTo>
                  <a:pt x="0" y="0"/>
                </a:moveTo>
                <a:lnTo>
                  <a:pt x="4117569" y="0"/>
                </a:lnTo>
                <a:lnTo>
                  <a:pt x="4229101" y="253910"/>
                </a:lnTo>
                <a:lnTo>
                  <a:pt x="4117569" y="507819"/>
                </a:lnTo>
                <a:lnTo>
                  <a:pt x="0" y="507819"/>
                </a:lnTo>
                <a:lnTo>
                  <a:pt x="111532" y="253910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pic>
        <p:nvPicPr>
          <p:cNvPr id="9" name="图片 1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10505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</p:pic>
      <p:pic>
        <p:nvPicPr>
          <p:cNvPr id="10" name="图片 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4592794" y="4395606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</p:pic>
      <p:pic>
        <p:nvPicPr>
          <p:cNvPr id="11" name="图片 3"/>
          <p:cNvPicPr>
            <a:picLocks noChangeAspect="1"/>
          </p:cNvPicPr>
          <p:nvPr/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>
            <a:off x="8169846" y="1505857"/>
            <a:ext cx="3005958" cy="1874851"/>
          </a:xfrm>
          <a:prstGeom prst="rect">
            <a:avLst/>
          </a:prstGeom>
          <a:ln w="12668">
            <a:solidFill>
              <a:schemeClr val="accent1"/>
            </a:solidFill>
            <a:prstDash val="solid"/>
          </a:ln>
        </p:spPr>
      </p:pic>
      <p:sp>
        <p:nvSpPr>
          <p:cNvPr id="12" name="形状"/>
          <p:cNvSpPr txBox="1"/>
          <p:nvPr/>
        </p:nvSpPr>
        <p:spPr>
          <a:xfrm>
            <a:off x="1074382" y="4420514"/>
            <a:ext cx="2914491" cy="560761"/>
          </a:xfrm>
          <a:prstGeom prst="rect">
            <a:avLst/>
          </a:prstGeom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实时路径优化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形状"/>
          <p:cNvSpPr txBox="1"/>
          <p:nvPr/>
        </p:nvSpPr>
        <p:spPr>
          <a:xfrm>
            <a:off x="924823" y="4971031"/>
            <a:ext cx="3213608" cy="1242957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当画像检测到某章节知识掌握度低于阈值时，自动增加该章节巩固任务占比，同时减少后续高阶内容分配。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形状"/>
          <p:cNvSpPr txBox="1"/>
          <p:nvPr/>
        </p:nvSpPr>
        <p:spPr>
          <a:xfrm>
            <a:off x="4612719" y="1571876"/>
            <a:ext cx="2954298" cy="560761"/>
          </a:xfrm>
          <a:prstGeom prst="rect">
            <a:avLst/>
          </a:prstGeom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4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目标引导机制</a:t>
            </a:r>
            <a:endParaRPr lang="en-US" sz="2400" b="1">
              <a:solidFill>
                <a:schemeClr val="accent4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形状"/>
          <p:cNvSpPr txBox="1"/>
          <p:nvPr/>
        </p:nvSpPr>
        <p:spPr>
          <a:xfrm>
            <a:off x="4467838" y="2137751"/>
            <a:ext cx="3244061" cy="1242957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对目标明确度低的学生，路径中自动插入目标拆解引导任务，通过SMART原则帮助学生建立可衡量的阶段目标。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形状"/>
          <p:cNvSpPr txBox="1"/>
          <p:nvPr/>
        </p:nvSpPr>
        <p:spPr>
          <a:xfrm>
            <a:off x="8146416" y="4420514"/>
            <a:ext cx="2954412" cy="560761"/>
          </a:xfrm>
          <a:prstGeom prst="rect">
            <a:avLst/>
          </a:prstGeom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6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错题强化策略</a:t>
            </a:r>
            <a:endParaRPr lang="en-US" sz="2400" b="1">
              <a:solidFill>
                <a:schemeClr val="accent6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形状"/>
          <p:cNvSpPr txBox="1"/>
          <p:nvPr/>
        </p:nvSpPr>
        <p:spPr>
          <a:xfrm>
            <a:off x="8070754" y="4971031"/>
            <a:ext cx="3204140" cy="1242957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marL="0"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rgbClr val="40404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错误规避力不足时，系统在路径关键节点插入错题复盘模块，采用"错题归因→同类训练→效果验证"三步强化流程。</a:t>
            </a:r>
            <a:endParaRPr lang="en-US" sz="1500">
              <a:solidFill>
                <a:srgbClr val="40404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形状"/>
          <p:cNvSpPr/>
          <p:nvPr/>
        </p:nvSpPr>
        <p:spPr>
          <a:xfrm>
            <a:off x="2334095" y="3665624"/>
            <a:ext cx="412521" cy="41252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9" name="形状"/>
          <p:cNvSpPr/>
          <p:nvPr/>
        </p:nvSpPr>
        <p:spPr>
          <a:xfrm>
            <a:off x="5927547" y="3703953"/>
            <a:ext cx="336452" cy="33645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w="304800" h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w="304800" h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20" name="形状"/>
          <p:cNvSpPr/>
          <p:nvPr/>
        </p:nvSpPr>
        <p:spPr>
          <a:xfrm>
            <a:off x="9494081" y="3693435"/>
            <a:ext cx="357486" cy="35748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形状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个性化学习路径展示图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1" descr="默认图片"/>
          <p:cNvPicPr/>
          <p:nvPr/>
        </p:nvPicPr>
        <p:blipFill>
          <a:blip r:embed="rId1"/>
          <a:stretch>
            <a:fillRect/>
          </a:stretch>
        </p:blipFill>
        <p:spPr>
          <a:xfrm>
            <a:off x="1575907" y="1282388"/>
            <a:ext cx="9189054" cy="46839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AI智能辅导对话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1">
            <a:alphaModFix amt="100000"/>
          </a:blip>
          <a:srcRect l="5568" r="5568"/>
          <a:stretch>
            <a:fillRect/>
          </a:stretch>
        </p:blipFill>
        <p:spPr>
          <a:xfrm>
            <a:off x="7991940" y="1518027"/>
            <a:ext cx="3605507" cy="2289021"/>
          </a:xfrm>
          <a:prstGeom prst="rect">
            <a:avLst/>
          </a:prstGeom>
        </p:spPr>
      </p:pic>
      <p:pic>
        <p:nvPicPr>
          <p:cNvPr id="4" name="图片 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7991940" y="3957279"/>
            <a:ext cx="3605507" cy="2289021"/>
          </a:xfrm>
          <a:prstGeom prst="rect">
            <a:avLst/>
          </a:prstGeom>
        </p:spPr>
      </p:pic>
      <p:pic>
        <p:nvPicPr>
          <p:cNvPr id="5" name="图片 3"/>
          <p:cNvPicPr>
            <a:picLocks noChangeAspect="1"/>
          </p:cNvPicPr>
          <p:nvPr/>
        </p:nvPicPr>
        <p:blipFill>
          <a:blip r:embed="rId3">
            <a:alphaModFix amt="100000"/>
          </a:blip>
          <a:srcRect t="17265" b="17265"/>
          <a:stretch>
            <a:fillRect/>
          </a:stretch>
        </p:blipFill>
        <p:spPr>
          <a:xfrm>
            <a:off x="638095" y="3957279"/>
            <a:ext cx="3496249" cy="2289021"/>
          </a:xfrm>
          <a:prstGeom prst="rect">
            <a:avLst/>
          </a:prstGeom>
        </p:spPr>
      </p:pic>
      <p:sp>
        <p:nvSpPr>
          <p:cNvPr id="6" name="形状"/>
          <p:cNvSpPr/>
          <p:nvPr/>
        </p:nvSpPr>
        <p:spPr>
          <a:xfrm>
            <a:off x="638095" y="1518027"/>
            <a:ext cx="3496249" cy="2289021"/>
          </a:xfrm>
          <a:prstGeom prst="rect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7" name="形状"/>
          <p:cNvSpPr/>
          <p:nvPr/>
        </p:nvSpPr>
        <p:spPr>
          <a:xfrm>
            <a:off x="625301" y="1689543"/>
            <a:ext cx="3083593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8" name="形状"/>
          <p:cNvSpPr txBox="1"/>
          <p:nvPr/>
        </p:nvSpPr>
        <p:spPr>
          <a:xfrm>
            <a:off x="839326" y="1723147"/>
            <a:ext cx="2596996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分层应答逻辑</a:t>
            </a:r>
            <a:endParaRPr lang="en-US" sz="20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形状"/>
          <p:cNvSpPr txBox="1"/>
          <p:nvPr/>
        </p:nvSpPr>
        <p:spPr>
          <a:xfrm>
            <a:off x="839326" y="2347530"/>
            <a:ext cx="3143676" cy="134217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基础扎实度高者获取多态设计模式讲解，低者接收生活化类比解释，代码示例复杂度随画像动态调整。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形状"/>
          <p:cNvSpPr/>
          <p:nvPr/>
        </p:nvSpPr>
        <p:spPr>
          <a:xfrm>
            <a:off x="4311405" y="1518027"/>
            <a:ext cx="3496249" cy="2289021"/>
          </a:xfrm>
          <a:prstGeom prst="rect">
            <a:avLst/>
          </a:prstGeom>
          <a:grpFill/>
          <a:ln w="12668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1" name="形状"/>
          <p:cNvSpPr/>
          <p:nvPr/>
        </p:nvSpPr>
        <p:spPr>
          <a:xfrm>
            <a:off x="5549481" y="1689543"/>
            <a:ext cx="1619808" cy="493623"/>
          </a:xfrm>
          <a:prstGeom prst="rect">
            <a:avLst/>
          </a:prstGeom>
          <a:grpFill/>
        </p:spPr>
      </p:sp>
      <p:sp>
        <p:nvSpPr>
          <p:cNvPr id="12" name="形状"/>
          <p:cNvSpPr/>
          <p:nvPr/>
        </p:nvSpPr>
        <p:spPr>
          <a:xfrm>
            <a:off x="4311405" y="3957279"/>
            <a:ext cx="3496249" cy="2289021"/>
          </a:xfrm>
          <a:prstGeom prst="rect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13" name="形状"/>
          <p:cNvSpPr/>
          <p:nvPr/>
        </p:nvSpPr>
        <p:spPr>
          <a:xfrm>
            <a:off x="4311405" y="1689543"/>
            <a:ext cx="3083593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形状"/>
          <p:cNvSpPr/>
          <p:nvPr/>
        </p:nvSpPr>
        <p:spPr>
          <a:xfrm>
            <a:off x="4298610" y="4128795"/>
            <a:ext cx="3017058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5" name="形状"/>
          <p:cNvSpPr txBox="1"/>
          <p:nvPr/>
        </p:nvSpPr>
        <p:spPr>
          <a:xfrm>
            <a:off x="4512635" y="4176954"/>
            <a:ext cx="2596996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多场景覆盖</a:t>
            </a:r>
            <a:endParaRPr lang="en-US" sz="20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形状"/>
          <p:cNvSpPr txBox="1"/>
          <p:nvPr/>
        </p:nvSpPr>
        <p:spPr>
          <a:xfrm>
            <a:off x="4512635" y="4786783"/>
            <a:ext cx="3143676" cy="135547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支持知识点讲解、代码示例等模块，满足课后答疑、计划制定等全场景需求。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形状"/>
          <p:cNvSpPr txBox="1"/>
          <p:nvPr/>
        </p:nvSpPr>
        <p:spPr>
          <a:xfrm>
            <a:off x="4487691" y="2296401"/>
            <a:ext cx="3143676" cy="13933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对话过程中捕捉提问关键词、追问逻辑等特征，通过LangGraph架构实时回流至画像引擎。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形状"/>
          <p:cNvSpPr txBox="1"/>
          <p:nvPr/>
        </p:nvSpPr>
        <p:spPr>
          <a:xfrm>
            <a:off x="4487691" y="1723147"/>
            <a:ext cx="2596996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实时画像迭代</a:t>
            </a:r>
            <a:endParaRPr lang="en-US" sz="20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AI智能辅导对话展示图1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" name="图片 1" descr="默认图片"/>
          <p:cNvPicPr/>
          <p:nvPr/>
        </p:nvPicPr>
        <p:blipFill>
          <a:blip r:embed="rId1"/>
          <a:stretch>
            <a:fillRect/>
          </a:stretch>
        </p:blipFill>
        <p:spPr>
          <a:xfrm>
            <a:off x="1996257" y="1254390"/>
            <a:ext cx="8124825" cy="50387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AI智能辅导对话展示图2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图片 1" descr="默认图片"/>
          <p:cNvPicPr/>
          <p:nvPr/>
        </p:nvPicPr>
        <p:blipFill>
          <a:blip r:embed="rId1"/>
          <a:stretch>
            <a:fillRect/>
          </a:stretch>
        </p:blipFill>
        <p:spPr>
          <a:xfrm>
            <a:off x="1614488" y="1314450"/>
            <a:ext cx="8963025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AI智能辅导对话展示图3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图片 1" descr="默认图片"/>
          <p:cNvPicPr/>
          <p:nvPr/>
        </p:nvPicPr>
        <p:blipFill>
          <a:blip r:embed="rId1"/>
          <a:stretch>
            <a:fillRect/>
          </a:stretch>
        </p:blipFill>
        <p:spPr>
          <a:xfrm>
            <a:off x="1614488" y="1200150"/>
            <a:ext cx="8963025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六维学习画像定义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4" name="AutoShape 4"/>
            <p:cNvSpPr/>
            <p:nvPr/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5" name="AutoShape 5"/>
            <p:cNvSpPr/>
            <p:nvPr/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6" name="AutoShape 6"/>
            <p:cNvSpPr/>
            <p:nvPr/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cxnSp>
          <p:nvCxnSpPr>
            <p:cNvPr id="7" name="Connector 7"/>
            <p:cNvCxnSpPr/>
            <p:nvPr/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Group 8"/>
          <p:cNvGrpSpPr/>
          <p:nvPr/>
        </p:nvGrpSpPr>
        <p:grpSpPr>
          <a:xfrm rot="0">
            <a:off x="6455568" y="1512589"/>
            <a:ext cx="197186" cy="5357334"/>
            <a:chOff x="6455568" y="1512589"/>
            <a:chExt cx="197186" cy="5357334"/>
          </a:xfrm>
        </p:grpSpPr>
        <p:sp>
          <p:nvSpPr>
            <p:cNvPr id="9" name="AutoShape 9"/>
            <p:cNvSpPr/>
            <p:nvPr/>
          </p:nvSpPr>
          <p:spPr>
            <a:xfrm>
              <a:off x="6455568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0" name="AutoShape 10"/>
            <p:cNvSpPr/>
            <p:nvPr/>
          </p:nvSpPr>
          <p:spPr>
            <a:xfrm>
              <a:off x="6455568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1" name="AutoShape 11"/>
            <p:cNvSpPr/>
            <p:nvPr/>
          </p:nvSpPr>
          <p:spPr>
            <a:xfrm>
              <a:off x="6455568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cxnSp>
          <p:nvCxnSpPr>
            <p:cNvPr id="12" name="Connector 12"/>
            <p:cNvCxnSpPr/>
            <p:nvPr/>
          </p:nvCxnSpPr>
          <p:spPr>
            <a:xfrm>
              <a:off x="6554162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3" name="TextBox 13"/>
          <p:cNvSpPr txBox="1"/>
          <p:nvPr/>
        </p:nvSpPr>
        <p:spPr>
          <a:xfrm>
            <a:off x="1297192" y="1308287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基础扎实度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97192" y="4762018"/>
            <a:ext cx="4414526" cy="62484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自主学习性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97192" y="3025846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目标明确度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97192" y="1804349"/>
            <a:ext cx="4486656" cy="1203960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衡量学生对学科基础知识的掌握程度，通过习题正确率、知识点回顾频率等行为数据动态评估，为资源推荐提供核心依据。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97192" y="354347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反映学生学习目标的清晰性与可衡量性，系统通过分析任务完成率与计划调整频次自动计算，用于优化路径规划。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97192" y="5282464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评估学生主动探索与独立学习的能力，基于拓展资源点击量、提问深度等指标量化，决定拓展内容的推送策略。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865764" y="1308287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知识掌握度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865764" y="3025846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错误规避力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65764" y="1804349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实时监测当前知识点的理解水平，结合练习正确率与对话反馈动态更新，触发巩固或进阶任务的自动调整。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865764" y="354347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量化学生从错误中学习的能力，通过错题重做正确率与复盘行为分析生成，用于错题强化策略的制定。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865764" y="4780608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方法适配度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865764" y="5298231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判断学习方法与认知风格的匹配度，依据资源类型偏好与学习时长分布计算，指导个性化辅导策略的生成。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9383840" y="1179728"/>
            <a:ext cx="2367565" cy="2989339"/>
          </a:xfrm>
          <a:prstGeom prst="rect">
            <a:avLst/>
          </a:prstGeom>
        </p:spPr>
      </p:pic>
      <p:sp>
        <p:nvSpPr>
          <p:cNvPr id="3" name="形状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六维学习画像无感构建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7357469" y="3126819"/>
            <a:ext cx="2376634" cy="3129344"/>
          </a:xfrm>
          <a:prstGeom prst="rect">
            <a:avLst/>
          </a:prstGeom>
        </p:spPr>
      </p:pic>
      <p:sp>
        <p:nvSpPr>
          <p:cNvPr id="5" name="形状"/>
          <p:cNvSpPr/>
          <p:nvPr/>
        </p:nvSpPr>
        <p:spPr>
          <a:xfrm>
            <a:off x="10139702" y="4805703"/>
            <a:ext cx="2052297" cy="2052297"/>
          </a:xfrm>
          <a:prstGeom prst="rect">
            <a:avLst/>
          </a:prstGeom>
          <a:solidFill>
            <a:schemeClr val="dk1">
              <a:alpha val="5000"/>
            </a:schemeClr>
          </a:solidFill>
        </p:spPr>
      </p:sp>
      <p:sp>
        <p:nvSpPr>
          <p:cNvPr id="6" name="形状"/>
          <p:cNvSpPr/>
          <p:nvPr/>
        </p:nvSpPr>
        <p:spPr>
          <a:xfrm>
            <a:off x="9131919" y="2565721"/>
            <a:ext cx="849827" cy="2052297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7" name="形状"/>
          <p:cNvSpPr txBox="1"/>
          <p:nvPr/>
        </p:nvSpPr>
        <p:spPr>
          <a:xfrm>
            <a:off x="833792" y="1335147"/>
            <a:ext cx="1438275" cy="36576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01.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形状"/>
          <p:cNvSpPr txBox="1"/>
          <p:nvPr/>
        </p:nvSpPr>
        <p:spPr>
          <a:xfrm>
            <a:off x="833792" y="1837576"/>
            <a:ext cx="2354768" cy="26950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20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初始画像生成</a:t>
            </a:r>
            <a:endParaRPr lang="en-US" sz="2000" b="1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形状"/>
          <p:cNvSpPr txBox="1"/>
          <p:nvPr/>
        </p:nvSpPr>
        <p:spPr>
          <a:xfrm>
            <a:off x="833792" y="2246472"/>
            <a:ext cx="5813326" cy="64473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通过多轮对话自然采集学生基础信息与目标，快速生成初始六维画像。</a:t>
            </a:r>
            <a:endParaRPr lang="en-US" sz="16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形状"/>
          <p:cNvSpPr txBox="1"/>
          <p:nvPr/>
        </p:nvSpPr>
        <p:spPr>
          <a:xfrm>
            <a:off x="833792" y="3027881"/>
            <a:ext cx="1438275" cy="36576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02.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形状"/>
          <p:cNvSpPr txBox="1"/>
          <p:nvPr/>
        </p:nvSpPr>
        <p:spPr>
          <a:xfrm>
            <a:off x="833792" y="3530311"/>
            <a:ext cx="2354768" cy="26950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20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静默更新机制</a:t>
            </a:r>
            <a:endParaRPr lang="en-US" sz="2000" b="1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形状"/>
          <p:cNvSpPr txBox="1"/>
          <p:nvPr/>
        </p:nvSpPr>
        <p:spPr>
          <a:xfrm>
            <a:off x="833792" y="3875490"/>
            <a:ext cx="5813326" cy="64473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实时汇聚学习与行为数据，在后台静默迭代并周期性更新画像分值。</a:t>
            </a:r>
            <a:endParaRPr lang="en-US" sz="16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形状"/>
          <p:cNvSpPr txBox="1"/>
          <p:nvPr/>
        </p:nvSpPr>
        <p:spPr>
          <a:xfrm>
            <a:off x="833792" y="4763814"/>
            <a:ext cx="1438275" cy="36576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03.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形状"/>
          <p:cNvSpPr txBox="1"/>
          <p:nvPr/>
        </p:nvSpPr>
        <p:spPr>
          <a:xfrm>
            <a:off x="833792" y="5266244"/>
            <a:ext cx="2354768" cy="26950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marL="0" algn="l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2000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可视化呈现</a:t>
            </a:r>
            <a:endParaRPr lang="en-US" sz="2000" b="1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形状"/>
          <p:cNvSpPr txBox="1"/>
          <p:nvPr/>
        </p:nvSpPr>
        <p:spPr>
          <a:xfrm>
            <a:off x="833792" y="5611423"/>
            <a:ext cx="5813326" cy="64473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以雷达图直观呈现能力分布，并通过统一API驱动资源与路径的精准决策。</a:t>
            </a:r>
            <a:endParaRPr lang="en-US" sz="16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首次构建（对话中生成画像）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形状"/>
          <p:cNvSpPr/>
          <p:nvPr/>
        </p:nvSpPr>
        <p:spPr>
          <a:xfrm>
            <a:off x="476023" y="1827025"/>
            <a:ext cx="3487460" cy="4308115"/>
          </a:xfrm>
          <a:prstGeom prst="roundRect">
            <a:avLst>
              <a:gd name="adj" fmla="val 6840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13" name="形状"/>
          <p:cNvSpPr txBox="1"/>
          <p:nvPr/>
        </p:nvSpPr>
        <p:spPr>
          <a:xfrm>
            <a:off x="679726" y="2734039"/>
            <a:ext cx="3080054" cy="209570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sz="2000">
                <a:solidFill>
                  <a:srgbClr val="11171E"/>
                </a:solidFill>
                <a:latin typeface="Noto Sans SC" panose="020B0200000000000000" charset="-122"/>
                <a:ea typeface="宋体" panose="02010600030101010101" pitchFamily="2" charset="-122"/>
                <a:cs typeface="+mn-cs"/>
              </a:rPr>
              <a:t>         学生第一次登录系统与 AI 对话时，多轮问答的过程就是画像初始化的过程。AI 会通过提问逻辑自然采集学生的基础水平、学习目标等信息，后台自动生成初始六维画像。</a:t>
            </a:r>
            <a:endParaRPr sz="2000">
              <a:solidFill>
                <a:srgbClr val="11171E"/>
              </a:solidFill>
              <a:latin typeface="Noto Sans SC" panose="020B0200000000000000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4" name="图片 1"/>
          <p:cNvPicPr>
            <a:picLocks noChangeAspect="1"/>
          </p:cNvPicPr>
          <p:nvPr/>
        </p:nvPicPr>
        <p:blipFill>
          <a:blip r:embed="rId1"/>
          <a:srcRect t="16083" b="16083"/>
          <a:stretch>
            <a:fillRect/>
          </a:stretch>
        </p:blipFill>
        <p:spPr>
          <a:xfrm>
            <a:off x="2385342" y="1179728"/>
            <a:ext cx="1294595" cy="1554311"/>
          </a:xfrm>
          <a:prstGeom prst="roundRect">
            <a:avLst/>
          </a:prstGeom>
        </p:spPr>
      </p:pic>
      <p:pic>
        <p:nvPicPr>
          <p:cNvPr id="15" name="图片 2" descr="默认图片"/>
          <p:cNvPicPr/>
          <p:nvPr/>
        </p:nvPicPr>
        <p:blipFill>
          <a:blip r:embed="rId2"/>
          <a:stretch>
            <a:fillRect/>
          </a:stretch>
        </p:blipFill>
        <p:spPr>
          <a:xfrm>
            <a:off x="4916240" y="1239689"/>
            <a:ext cx="6518514" cy="516909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动态更新（后台静默生成）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形状"/>
          <p:cNvSpPr/>
          <p:nvPr/>
        </p:nvSpPr>
        <p:spPr>
          <a:xfrm>
            <a:off x="476023" y="1827025"/>
            <a:ext cx="3487460" cy="4308115"/>
          </a:xfrm>
          <a:prstGeom prst="roundRect">
            <a:avLst>
              <a:gd name="adj" fmla="val 6840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4" name="形状"/>
          <p:cNvSpPr txBox="1"/>
          <p:nvPr/>
        </p:nvSpPr>
        <p:spPr>
          <a:xfrm>
            <a:off x="679726" y="2427080"/>
            <a:ext cx="3080054" cy="209570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sz="2000">
                <a:solidFill>
                  <a:srgbClr val="11171E"/>
                </a:solidFill>
                <a:latin typeface="Noto Sans SC" panose="020B0200000000000000" charset="-122"/>
                <a:ea typeface="宋体" panose="02010600030101010101" pitchFamily="2" charset="-122"/>
                <a:cs typeface="+mn-cs"/>
              </a:rPr>
              <a:t>        学生在平台的所有行为如学习时长、任务完成率、对话提问内容、习题正确率、资源点击偏好等，都会实时回流到 AI 引擎，后台静默更新画像各维度分值。整个过程不打断学生学习流程。</a:t>
            </a:r>
            <a:endParaRPr sz="2000">
              <a:solidFill>
                <a:srgbClr val="11171E"/>
              </a:solidFill>
              <a:latin typeface="Noto Sans SC" panose="020B0200000000000000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" name="图片 3"/>
          <p:cNvPicPr>
            <a:picLocks noChangeAspect="1"/>
          </p:cNvPicPr>
          <p:nvPr/>
        </p:nvPicPr>
        <p:blipFill>
          <a:blip r:embed="rId1"/>
          <a:srcRect l="16724" r="16724"/>
          <a:stretch>
            <a:fillRect/>
          </a:stretch>
        </p:blipFill>
        <p:spPr>
          <a:xfrm>
            <a:off x="2465185" y="1222073"/>
            <a:ext cx="1294595" cy="1294595"/>
          </a:xfrm>
          <a:prstGeom prst="roundRect">
            <a:avLst/>
          </a:prstGeom>
        </p:spPr>
      </p:pic>
      <p:pic>
        <p:nvPicPr>
          <p:cNvPr id="8" name="图片 3" descr="默认图片"/>
          <p:cNvPicPr/>
          <p:nvPr/>
        </p:nvPicPr>
        <p:blipFill>
          <a:blip r:embed="rId2"/>
          <a:stretch>
            <a:fillRect/>
          </a:stretch>
        </p:blipFill>
        <p:spPr>
          <a:xfrm>
            <a:off x="4934847" y="1222073"/>
            <a:ext cx="6324753" cy="499971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可视化呈现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形状"/>
          <p:cNvSpPr/>
          <p:nvPr/>
        </p:nvSpPr>
        <p:spPr>
          <a:xfrm>
            <a:off x="476023" y="1827025"/>
            <a:ext cx="3487460" cy="4308115"/>
          </a:xfrm>
          <a:prstGeom prst="roundRect">
            <a:avLst>
              <a:gd name="adj" fmla="val 6840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4" name="形状"/>
          <p:cNvSpPr txBox="1"/>
          <p:nvPr/>
        </p:nvSpPr>
        <p:spPr>
          <a:xfrm>
            <a:off x="679726" y="2933229"/>
            <a:ext cx="3080054" cy="2095707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sz="2000">
                <a:solidFill>
                  <a:srgbClr val="11171E"/>
                </a:solidFill>
                <a:latin typeface="Noto Sans SC" panose="020B0200000000000000" charset="-122"/>
                <a:ea typeface="宋体" panose="02010600030101010101" pitchFamily="2" charset="-122"/>
                <a:cs typeface="+mn-cs"/>
              </a:rPr>
              <a:t>         </a:t>
            </a:r>
            <a:r>
              <a:rPr sz="2000">
                <a:solidFill>
                  <a:srgbClr val="11171E"/>
                </a:solidFill>
                <a:latin typeface="Noto Sans SC" panose="020B0200000000000000" charset="-122"/>
                <a:ea typeface="宋体" panose="02010600030101010101" pitchFamily="2" charset="-122"/>
                <a:cs typeface="+mn-cs"/>
              </a:rPr>
              <a:t>学生可在“学习画像”页查看雷达图形式的画像概览，但看不到后台的运算逻辑，只感知到内容越来越贴合自己的需求。</a:t>
            </a:r>
            <a:endParaRPr sz="2000">
              <a:solidFill>
                <a:srgbClr val="11171E"/>
              </a:solidFill>
              <a:latin typeface="Noto Sans SC" panose="020B0200000000000000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65185" y="1325894"/>
            <a:ext cx="1294595" cy="1294595"/>
          </a:xfrm>
          <a:prstGeom prst="roundRect">
            <a:avLst/>
          </a:prstGeom>
        </p:spPr>
      </p:pic>
      <p:pic>
        <p:nvPicPr>
          <p:cNvPr id="11" name="图片 2" descr="默认图片"/>
          <p:cNvPicPr/>
          <p:nvPr/>
        </p:nvPicPr>
        <p:blipFill>
          <a:blip r:embed="rId2"/>
          <a:srcRect l="-1" t="-1" r="17965" b="1085"/>
          <a:stretch>
            <a:fillRect/>
          </a:stretch>
        </p:blipFill>
        <p:spPr>
          <a:xfrm>
            <a:off x="4757446" y="2134319"/>
            <a:ext cx="6477676" cy="38629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智绘学习报告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654686" y="1612677"/>
            <a:ext cx="3311882" cy="4326814"/>
          </a:xfrm>
          <a:prstGeom prst="roundRect">
            <a:avLst>
              <a:gd name="adj" fmla="val 7841"/>
            </a:avLst>
          </a:prstGeom>
          <a:solidFill>
            <a:schemeClr val="accent1">
              <a:alpha val="100000"/>
            </a:schemeClr>
          </a:solidFill>
          <a:effectLst>
            <a:outerShdw blurRad="342900" dist="95250">
              <a:schemeClr val="dk1">
                <a:alpha val="7000"/>
              </a:schemeClr>
            </a:outerShdw>
          </a:effectLst>
        </p:spPr>
      </p:sp>
      <p:sp>
        <p:nvSpPr>
          <p:cNvPr id="4" name="AutoShape 4"/>
          <p:cNvSpPr/>
          <p:nvPr>
            <p:custDataLst>
              <p:tags r:id="rId3"/>
            </p:custDataLst>
          </p:nvPr>
        </p:nvSpPr>
        <p:spPr>
          <a:xfrm>
            <a:off x="792713" y="3400085"/>
            <a:ext cx="3035828" cy="2405751"/>
          </a:xfrm>
          <a:prstGeom prst="roundRect">
            <a:avLst>
              <a:gd name="adj" fmla="val 11049"/>
            </a:avLst>
          </a:prstGeom>
          <a:solidFill>
            <a:srgbClr val="FFFFFF">
              <a:alpha val="100000"/>
            </a:srgbClr>
          </a:solidFill>
        </p:spPr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1057318" y="3516814"/>
            <a:ext cx="2506618" cy="2087602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报告深度绑定学生六维画像，系统自动识别学习特征。针对目标模糊学生，重点呈现目标拆解路径与阶段规划建议，提供精准学习导航。</a:t>
            </a:r>
            <a:endParaRPr lang="en-US" sz="1500">
              <a:solidFill>
                <a:srgbClr val="00000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755886" y="2590359"/>
            <a:ext cx="3109482" cy="57150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marL="0" algn="ctr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个性化诊断</a:t>
            </a:r>
            <a:endParaRPr lang="en-US" sz="24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904949" y="1701131"/>
            <a:ext cx="2811355" cy="9391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5200" b="1">
                <a:solidFill>
                  <a:srgbClr val="E8F1F4">
                    <a:alpha val="5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5200" b="1">
              <a:solidFill>
                <a:srgbClr val="E8F1F4">
                  <a:alpha val="5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396856" y="1612677"/>
            <a:ext cx="3311882" cy="4326814"/>
          </a:xfrm>
          <a:prstGeom prst="roundRect">
            <a:avLst>
              <a:gd name="adj" fmla="val 7841"/>
            </a:avLst>
          </a:prstGeom>
          <a:solidFill>
            <a:schemeClr val="accent1">
              <a:alpha val="100000"/>
            </a:schemeClr>
          </a:solidFill>
          <a:effectLst>
            <a:outerShdw blurRad="342900" dist="95250">
              <a:schemeClr val="dk1">
                <a:alpha val="7000"/>
              </a:schemeClr>
            </a:outerShdw>
          </a:effectLst>
        </p:spPr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534883" y="3400085"/>
            <a:ext cx="3035828" cy="2405751"/>
          </a:xfrm>
          <a:prstGeom prst="roundRect">
            <a:avLst>
              <a:gd name="adj" fmla="val 11049"/>
            </a:avLst>
          </a:prstGeom>
          <a:solidFill>
            <a:srgbClr val="FFFFFF">
              <a:alpha val="100000"/>
            </a:srgbClr>
          </a:solidFill>
        </p:spPr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4842283" y="3400085"/>
            <a:ext cx="2506980" cy="2087602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直观聚合总学习时长、学习进度与综合评分，并通过多维度图表（如各模块学习时长分布、学习时长趋势）全景展现学习投入与产出，数据驱动查漏补缺。</a:t>
            </a:r>
            <a:endParaRPr lang="en-US" sz="1500">
              <a:solidFill>
                <a:srgbClr val="00000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4498056" y="2590359"/>
            <a:ext cx="3109482" cy="57150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marL="0" algn="ctr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学习数据复盘</a:t>
            </a:r>
            <a:endParaRPr lang="en-US" sz="24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11"/>
            </p:custDataLst>
          </p:nvPr>
        </p:nvSpPr>
        <p:spPr>
          <a:xfrm>
            <a:off x="4575470" y="1701131"/>
            <a:ext cx="2954655" cy="9391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5200" b="1">
                <a:solidFill>
                  <a:srgbClr val="FFFFFF">
                    <a:alpha val="5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5200" b="1">
              <a:solidFill>
                <a:srgbClr val="FFFFFF">
                  <a:alpha val="5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8139026" y="1612677"/>
            <a:ext cx="3311882" cy="4326814"/>
          </a:xfrm>
          <a:prstGeom prst="roundRect">
            <a:avLst>
              <a:gd name="adj" fmla="val 7841"/>
            </a:avLst>
          </a:prstGeom>
          <a:solidFill>
            <a:schemeClr val="accent1">
              <a:alpha val="100000"/>
            </a:schemeClr>
          </a:solidFill>
          <a:effectLst>
            <a:outerShdw blurRad="342900" dist="95250">
              <a:schemeClr val="dk1">
                <a:alpha val="7000"/>
              </a:schemeClr>
            </a:outerShdw>
          </a:effectLst>
        </p:spPr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8277053" y="3400085"/>
            <a:ext cx="3035828" cy="2405751"/>
          </a:xfrm>
          <a:prstGeom prst="roundRect">
            <a:avLst>
              <a:gd name="adj" fmla="val 11049"/>
            </a:avLst>
          </a:prstGeom>
          <a:solidFill>
            <a:srgbClr val="FFFFFF">
              <a:alpha val="100000"/>
            </a:srgbClr>
          </a:solidFill>
        </p:spPr>
      </p:sp>
      <p:sp>
        <p:nvSpPr>
          <p:cNvPr id="15" name="TextBox 15"/>
          <p:cNvSpPr txBox="1"/>
          <p:nvPr>
            <p:custDataLst>
              <p:tags r:id="rId14"/>
            </p:custDataLst>
          </p:nvPr>
        </p:nvSpPr>
        <p:spPr>
          <a:xfrm>
            <a:off x="8541478" y="3400085"/>
            <a:ext cx="2506980" cy="214083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结合错题记录与学习习惯，智能提炼薄弱点与专属学习建议。对错误规避力弱的学生提供高频错题解析，对自主学习强的学生推送拓展探究方向，全面激发学习潜能。</a:t>
            </a:r>
            <a:endParaRPr lang="en-US" sz="1500">
              <a:solidFill>
                <a:srgbClr val="000000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8240227" y="2590359"/>
            <a:ext cx="3109482" cy="57150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marL="0" algn="ctr" defTabSz="914400">
              <a:lnSpc>
                <a:spcPct val="12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智能提升建议</a:t>
            </a:r>
            <a:endParaRPr lang="en-US" sz="24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8319140" y="1701131"/>
            <a:ext cx="2951654" cy="9391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5200" b="1">
                <a:solidFill>
                  <a:srgbClr val="FFFFFF">
                    <a:alpha val="49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5200" b="1">
              <a:solidFill>
                <a:srgbClr val="FFFFFF">
                  <a:alpha val="49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33375"/>
            <a:ext cx="1112520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差异化学习体验——初学者 </a:t>
            </a:r>
            <a:r>
              <a:rPr lang="en-US" altLang="zh-CN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vs </a:t>
            </a: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进阶学员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1500" y="1104900"/>
            <a:ext cx="5429250" cy="1104900"/>
          </a:xfrm>
          <a:custGeom>
            <a:avLst/>
            <a:gdLst>
              <a:gd name="sw" fmla="*/ 1 w 8550"/>
              <a:gd name="sh" fmla="*/ 1 h 1740"/>
              <a:gd name="mins" fmla="min sw sh"/>
              <a:gd name="dsw" fmla="+- 0 sw mins"/>
              <a:gd name="dsh" fmla="+- 0 sh mins"/>
              <a:gd name="p0x0" fmla="*/ 240 w 8550"/>
              <a:gd name="p0y0" fmla="*/ 0 h 1740"/>
              <a:gd name="p0x1" fmla="*/ 8310 w 8550"/>
              <a:gd name="p0y1" fmla="*/ 0 h 1740"/>
              <a:gd name="p0x2" fmla="*/ 8442 w 8550"/>
              <a:gd name="p0y2" fmla="*/ 0 h 1740"/>
              <a:gd name="p0x3" fmla="*/ 8550 w 8550"/>
              <a:gd name="p0y3" fmla="*/ 107 h 1740"/>
              <a:gd name="p0x4" fmla="*/ 8550 w 8550"/>
              <a:gd name="p0y4" fmla="*/ 240 h 1740"/>
              <a:gd name="p0x5" fmla="*/ 8550 w 8550"/>
              <a:gd name="p0y5" fmla="*/ 1500 h 1740"/>
              <a:gd name="p0x6" fmla="*/ 8550 w 8550"/>
              <a:gd name="p0y6" fmla="*/ 1632 h 1740"/>
              <a:gd name="p0x7" fmla="*/ 8442 w 8550"/>
              <a:gd name="p0y7" fmla="*/ 1740 h 1740"/>
              <a:gd name="p0x8" fmla="*/ 8310 w 8550"/>
              <a:gd name="p0y8" fmla="*/ 1740 h 1740"/>
              <a:gd name="p0x9" fmla="*/ 240 w 8550"/>
              <a:gd name="p0y9" fmla="*/ 1740 h 1740"/>
              <a:gd name="p0x10" fmla="*/ 107 w 8550"/>
              <a:gd name="p0y10" fmla="*/ 1740 h 1740"/>
              <a:gd name="p0x11" fmla="*/ 0 w 8550"/>
              <a:gd name="p0y11" fmla="*/ 1632 h 1740"/>
              <a:gd name="p0x12" fmla="*/ 0 w 8550"/>
              <a:gd name="p0y12" fmla="*/ 1500 h 1740"/>
              <a:gd name="p0x13" fmla="*/ 0 w 8550"/>
              <a:gd name="p0y13" fmla="*/ 240 h 1740"/>
              <a:gd name="p0x14" fmla="*/ 0 w 8550"/>
              <a:gd name="p0y14" fmla="*/ 107 h 1740"/>
              <a:gd name="p0x15" fmla="*/ 107 w 8550"/>
              <a:gd name="p0y15" fmla="*/ 0 h 1740"/>
              <a:gd name="p0x16" fmla="*/ 240 w 8550"/>
              <a:gd name="p0y16" fmla="*/ 0 h 17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6FA5"/>
          </a:solidFill>
          <a:ln>
            <a:noFill/>
          </a:ln>
          <a:effectLst>
            <a:outerShdw blurRad="171450" dist="38100" dir="5399999" algn="ctr" rotWithShape="0">
              <a:srgbClr val="4A6FA5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762000" y="14097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40 w 780"/>
              <a:gd name="p0y0" fmla="*/ 0 h 780"/>
              <a:gd name="p0x1" fmla="*/ 540 w 780"/>
              <a:gd name="p0y1" fmla="*/ 0 h 780"/>
              <a:gd name="p0x2" fmla="*/ 672 w 780"/>
              <a:gd name="p0y2" fmla="*/ 0 h 780"/>
              <a:gd name="p0x3" fmla="*/ 780 w 780"/>
              <a:gd name="p0y3" fmla="*/ 107 h 780"/>
              <a:gd name="p0x4" fmla="*/ 780 w 780"/>
              <a:gd name="p0y4" fmla="*/ 240 h 780"/>
              <a:gd name="p0x5" fmla="*/ 780 w 780"/>
              <a:gd name="p0y5" fmla="*/ 540 h 780"/>
              <a:gd name="p0x6" fmla="*/ 780 w 780"/>
              <a:gd name="p0y6" fmla="*/ 672 h 780"/>
              <a:gd name="p0x7" fmla="*/ 672 w 780"/>
              <a:gd name="p0y7" fmla="*/ 780 h 780"/>
              <a:gd name="p0x8" fmla="*/ 540 w 780"/>
              <a:gd name="p0y8" fmla="*/ 780 h 780"/>
              <a:gd name="p0x9" fmla="*/ 240 w 780"/>
              <a:gd name="p0y9" fmla="*/ 780 h 780"/>
              <a:gd name="p0x10" fmla="*/ 107 w 780"/>
              <a:gd name="p0y10" fmla="*/ 780 h 780"/>
              <a:gd name="p0x11" fmla="*/ 0 w 780"/>
              <a:gd name="p0y11" fmla="*/ 672 h 780"/>
              <a:gd name="p0x12" fmla="*/ 0 w 780"/>
              <a:gd name="p0y12" fmla="*/ 540 h 780"/>
              <a:gd name="p0x13" fmla="*/ 0 w 780"/>
              <a:gd name="p0y13" fmla="*/ 240 h 780"/>
              <a:gd name="p0x14" fmla="*/ 0 w 780"/>
              <a:gd name="p0y14" fmla="*/ 107 h 780"/>
              <a:gd name="p0x15" fmla="*/ 107 w 780"/>
              <a:gd name="p0y15" fmla="*/ 0 h 780"/>
              <a:gd name="p0x16" fmla="*/ 24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6FA5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57250" y="1504950"/>
            <a:ext cx="304800" cy="3048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1409700" y="1259205"/>
            <a:ext cx="2181225" cy="4533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初学者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1409700" y="1690688"/>
            <a:ext cx="237172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夯实基础</a:t>
            </a:r>
            <a:r>
              <a:rPr lang="en-US" altLang="zh-CN" sz="15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建立知识体系</a:t>
            </a:r>
            <a:endParaRPr lang="zh-CN" altLang="en-US" sz="1500">
              <a:solidFill>
                <a:srgbClr val="FFFFFF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10"/>
            </p:custDataLst>
          </p:nvPr>
        </p:nvSpPr>
        <p:spPr>
          <a:xfrm>
            <a:off x="6191250" y="1104900"/>
            <a:ext cx="5429250" cy="1104900"/>
          </a:xfrm>
          <a:custGeom>
            <a:avLst/>
            <a:gdLst>
              <a:gd name="sw" fmla="*/ 1 w 8550"/>
              <a:gd name="sh" fmla="*/ 1 h 1740"/>
              <a:gd name="mins" fmla="min sw sh"/>
              <a:gd name="dsw" fmla="+- 0 sw mins"/>
              <a:gd name="dsh" fmla="+- 0 sh mins"/>
              <a:gd name="p0x0" fmla="*/ 240 w 8550"/>
              <a:gd name="p0y0" fmla="*/ 0 h 1740"/>
              <a:gd name="p0x1" fmla="*/ 8310 w 8550"/>
              <a:gd name="p0y1" fmla="*/ 0 h 1740"/>
              <a:gd name="p0x2" fmla="*/ 8442 w 8550"/>
              <a:gd name="p0y2" fmla="*/ 0 h 1740"/>
              <a:gd name="p0x3" fmla="*/ 8550 w 8550"/>
              <a:gd name="p0y3" fmla="*/ 107 h 1740"/>
              <a:gd name="p0x4" fmla="*/ 8550 w 8550"/>
              <a:gd name="p0y4" fmla="*/ 240 h 1740"/>
              <a:gd name="p0x5" fmla="*/ 8550 w 8550"/>
              <a:gd name="p0y5" fmla="*/ 1500 h 1740"/>
              <a:gd name="p0x6" fmla="*/ 8550 w 8550"/>
              <a:gd name="p0y6" fmla="*/ 1632 h 1740"/>
              <a:gd name="p0x7" fmla="*/ 8442 w 8550"/>
              <a:gd name="p0y7" fmla="*/ 1740 h 1740"/>
              <a:gd name="p0x8" fmla="*/ 8310 w 8550"/>
              <a:gd name="p0y8" fmla="*/ 1740 h 1740"/>
              <a:gd name="p0x9" fmla="*/ 240 w 8550"/>
              <a:gd name="p0y9" fmla="*/ 1740 h 1740"/>
              <a:gd name="p0x10" fmla="*/ 107 w 8550"/>
              <a:gd name="p0y10" fmla="*/ 1740 h 1740"/>
              <a:gd name="p0x11" fmla="*/ 0 w 8550"/>
              <a:gd name="p0y11" fmla="*/ 1632 h 1740"/>
              <a:gd name="p0x12" fmla="*/ 0 w 8550"/>
              <a:gd name="p0y12" fmla="*/ 1500 h 1740"/>
              <a:gd name="p0x13" fmla="*/ 0 w 8550"/>
              <a:gd name="p0y13" fmla="*/ 240 h 1740"/>
              <a:gd name="p0x14" fmla="*/ 0 w 8550"/>
              <a:gd name="p0y14" fmla="*/ 107 h 1740"/>
              <a:gd name="p0x15" fmla="*/ 107 w 8550"/>
              <a:gd name="p0y15" fmla="*/ 0 h 1740"/>
              <a:gd name="p0x16" fmla="*/ 240 w 8550"/>
              <a:gd name="p0y16" fmla="*/ 0 h 17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4748B"/>
          </a:solidFill>
          <a:ln>
            <a:noFill/>
          </a:ln>
          <a:effectLst>
            <a:outerShdw blurRad="171450" dist="38100" dir="5399999" algn="ctr" rotWithShape="0">
              <a:srgbClr val="4A6FA5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1"/>
            </p:custDataLst>
          </p:nvPr>
        </p:nvSpPr>
        <p:spPr>
          <a:xfrm>
            <a:off x="6381750" y="14097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40 w 780"/>
              <a:gd name="p0y0" fmla="*/ 0 h 780"/>
              <a:gd name="p0x1" fmla="*/ 540 w 780"/>
              <a:gd name="p0y1" fmla="*/ 0 h 780"/>
              <a:gd name="p0x2" fmla="*/ 672 w 780"/>
              <a:gd name="p0y2" fmla="*/ 0 h 780"/>
              <a:gd name="p0x3" fmla="*/ 780 w 780"/>
              <a:gd name="p0y3" fmla="*/ 107 h 780"/>
              <a:gd name="p0x4" fmla="*/ 780 w 780"/>
              <a:gd name="p0y4" fmla="*/ 240 h 780"/>
              <a:gd name="p0x5" fmla="*/ 780 w 780"/>
              <a:gd name="p0y5" fmla="*/ 540 h 780"/>
              <a:gd name="p0x6" fmla="*/ 780 w 780"/>
              <a:gd name="p0y6" fmla="*/ 672 h 780"/>
              <a:gd name="p0x7" fmla="*/ 672 w 780"/>
              <a:gd name="p0y7" fmla="*/ 780 h 780"/>
              <a:gd name="p0x8" fmla="*/ 540 w 780"/>
              <a:gd name="p0y8" fmla="*/ 780 h 780"/>
              <a:gd name="p0x9" fmla="*/ 240 w 780"/>
              <a:gd name="p0y9" fmla="*/ 780 h 780"/>
              <a:gd name="p0x10" fmla="*/ 107 w 780"/>
              <a:gd name="p0y10" fmla="*/ 780 h 780"/>
              <a:gd name="p0x11" fmla="*/ 0 w 780"/>
              <a:gd name="p0y11" fmla="*/ 672 h 780"/>
              <a:gd name="p0x12" fmla="*/ 0 w 780"/>
              <a:gd name="p0y12" fmla="*/ 540 h 780"/>
              <a:gd name="p0x13" fmla="*/ 0 w 780"/>
              <a:gd name="p0y13" fmla="*/ 240 h 780"/>
              <a:gd name="p0x14" fmla="*/ 0 w 780"/>
              <a:gd name="p0y14" fmla="*/ 107 h 780"/>
              <a:gd name="p0x15" fmla="*/ 107 w 780"/>
              <a:gd name="p0y15" fmla="*/ 0 h 780"/>
              <a:gd name="p0x16" fmla="*/ 24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6FA5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6477000" y="1504950"/>
            <a:ext cx="304800" cy="30480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7029450" y="1259205"/>
            <a:ext cx="2181225" cy="4533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进阶学员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6"/>
            </p:custDataLst>
          </p:nvPr>
        </p:nvSpPr>
        <p:spPr>
          <a:xfrm>
            <a:off x="7029450" y="1690688"/>
            <a:ext cx="2371725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深度拓展</a:t>
            </a:r>
            <a:r>
              <a:rPr lang="en-US" altLang="zh-CN" sz="15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提升综合能力</a:t>
            </a:r>
            <a:endParaRPr lang="zh-CN" altLang="en-US" sz="1500">
              <a:solidFill>
                <a:srgbClr val="FFFFFF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7"/>
            </p:custDataLst>
          </p:nvPr>
        </p:nvSpPr>
        <p:spPr>
          <a:xfrm>
            <a:off x="571500" y="2400300"/>
            <a:ext cx="2619375" cy="4076700"/>
          </a:xfrm>
          <a:custGeom>
            <a:avLst/>
            <a:gdLst>
              <a:gd name="sw" fmla="*/ 1 w 4125"/>
              <a:gd name="sh" fmla="*/ 1 h 6420"/>
              <a:gd name="mins" fmla="min sw sh"/>
              <a:gd name="dsw" fmla="+- 0 sw mins"/>
              <a:gd name="dsh" fmla="+- 0 sh mins"/>
              <a:gd name="p0x0" fmla="*/ 240 w 4125"/>
              <a:gd name="p0y0" fmla="*/ 0 h 6420"/>
              <a:gd name="p0x1" fmla="*/ 3885 w 4125"/>
              <a:gd name="p0y1" fmla="*/ 0 h 6420"/>
              <a:gd name="p0x2" fmla="*/ 4017 w 4125"/>
              <a:gd name="p0y2" fmla="*/ 0 h 6420"/>
              <a:gd name="p0x3" fmla="*/ 4125 w 4125"/>
              <a:gd name="p0y3" fmla="*/ 107 h 6420"/>
              <a:gd name="p0x4" fmla="*/ 4125 w 4125"/>
              <a:gd name="p0y4" fmla="*/ 240 h 6420"/>
              <a:gd name="p0x5" fmla="*/ 4125 w 4125"/>
              <a:gd name="p0y5" fmla="*/ 6180 h 6420"/>
              <a:gd name="p0x6" fmla="*/ 4125 w 4125"/>
              <a:gd name="p0y6" fmla="*/ 6312 h 6420"/>
              <a:gd name="p0x7" fmla="*/ 4017 w 4125"/>
              <a:gd name="p0y7" fmla="*/ 6420 h 6420"/>
              <a:gd name="p0x8" fmla="*/ 3885 w 4125"/>
              <a:gd name="p0y8" fmla="*/ 6420 h 6420"/>
              <a:gd name="p0x9" fmla="*/ 240 w 4125"/>
              <a:gd name="p0y9" fmla="*/ 6420 h 6420"/>
              <a:gd name="p0x10" fmla="*/ 107 w 4125"/>
              <a:gd name="p0y10" fmla="*/ 6420 h 6420"/>
              <a:gd name="p0x11" fmla="*/ 0 w 4125"/>
              <a:gd name="p0y11" fmla="*/ 6312 h 6420"/>
              <a:gd name="p0x12" fmla="*/ 0 w 4125"/>
              <a:gd name="p0y12" fmla="*/ 6180 h 6420"/>
              <a:gd name="p0x13" fmla="*/ 0 w 4125"/>
              <a:gd name="p0y13" fmla="*/ 240 h 6420"/>
              <a:gd name="p0x14" fmla="*/ 0 w 4125"/>
              <a:gd name="p0y14" fmla="*/ 107 h 6420"/>
              <a:gd name="p0x15" fmla="*/ 107 w 4125"/>
              <a:gd name="p0y15" fmla="*/ 0 h 6420"/>
              <a:gd name="p0x16" fmla="*/ 240 w 4125"/>
              <a:gd name="p0y16" fmla="*/ 0 h 6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>
            <a:noFill/>
          </a:ln>
          <a:effectLst>
            <a:outerShdw blurRad="171450" dist="38100" dir="5399999" algn="ctr" rotWithShape="0">
              <a:srgbClr val="4A6FA5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971233" y="2664901"/>
            <a:ext cx="1866900" cy="3990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智能辅导对话</a:t>
            </a:r>
            <a:endParaRPr sz="2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9"/>
            </p:custDataLst>
          </p:nvPr>
        </p:nvSpPr>
        <p:spPr>
          <a:xfrm>
            <a:off x="819150" y="31242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FA5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-3333" b="-3333"/>
          <a:stretch>
            <a:fillRect/>
          </a:stretch>
        </p:blipFill>
        <p:spPr>
          <a:xfrm>
            <a:off x="876300" y="3175635"/>
            <a:ext cx="152400" cy="1524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3"/>
            </p:custDataLst>
          </p:nvPr>
        </p:nvSpPr>
        <p:spPr>
          <a:xfrm>
            <a:off x="1162050" y="3123962"/>
            <a:ext cx="1895475" cy="2562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4A6FA5"/>
                </a:solidFill>
                <a:latin typeface="微软雅黑" panose="020B0503020204020204" charset="-122"/>
                <a:ea typeface="微软雅黑" panose="020B0503020204020204" charset="-122"/>
              </a:rPr>
              <a:t>初学者</a:t>
            </a:r>
            <a:endParaRPr sz="1350" b="1">
              <a:solidFill>
                <a:srgbClr val="4A6FA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4"/>
            </p:custDataLst>
          </p:nvPr>
        </p:nvSpPr>
        <p:spPr>
          <a:xfrm>
            <a:off x="1085850" y="3498771"/>
            <a:ext cx="1895475" cy="7676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侧重基础理解，通过概念解释、生活化案例、步骤化代码示例帮助建立知识体系</a:t>
            </a:r>
            <a:endParaRPr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5"/>
            </p:custDataLst>
          </p:nvPr>
        </p:nvSpPr>
        <p:spPr>
          <a:xfrm>
            <a:off x="762000" y="48755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FA5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819150" y="4932680"/>
            <a:ext cx="152400" cy="1524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9"/>
            </p:custDataLst>
          </p:nvPr>
        </p:nvSpPr>
        <p:spPr>
          <a:xfrm>
            <a:off x="1104900" y="4852569"/>
            <a:ext cx="1895475" cy="2562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进阶学员</a:t>
            </a:r>
            <a:endParaRPr sz="13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0"/>
            </p:custDataLst>
          </p:nvPr>
        </p:nvSpPr>
        <p:spPr>
          <a:xfrm>
            <a:off x="1104900" y="5107362"/>
            <a:ext cx="1895475" cy="7676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侧重深度拓展，通过源码分析、复杂案例和技术原理讲解提升综合能力</a:t>
            </a:r>
            <a:endParaRPr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1"/>
            </p:custDataLst>
          </p:nvPr>
        </p:nvSpPr>
        <p:spPr>
          <a:xfrm>
            <a:off x="3381375" y="2400300"/>
            <a:ext cx="2619375" cy="4076700"/>
          </a:xfrm>
          <a:custGeom>
            <a:avLst/>
            <a:gdLst>
              <a:gd name="sw" fmla="*/ 1 w 4125"/>
              <a:gd name="sh" fmla="*/ 1 h 6420"/>
              <a:gd name="mins" fmla="min sw sh"/>
              <a:gd name="dsw" fmla="+- 0 sw mins"/>
              <a:gd name="dsh" fmla="+- 0 sh mins"/>
              <a:gd name="p0x0" fmla="*/ 240 w 4125"/>
              <a:gd name="p0y0" fmla="*/ 0 h 6420"/>
              <a:gd name="p0x1" fmla="*/ 3885 w 4125"/>
              <a:gd name="p0y1" fmla="*/ 0 h 6420"/>
              <a:gd name="p0x2" fmla="*/ 4017 w 4125"/>
              <a:gd name="p0y2" fmla="*/ 0 h 6420"/>
              <a:gd name="p0x3" fmla="*/ 4125 w 4125"/>
              <a:gd name="p0y3" fmla="*/ 107 h 6420"/>
              <a:gd name="p0x4" fmla="*/ 4125 w 4125"/>
              <a:gd name="p0y4" fmla="*/ 240 h 6420"/>
              <a:gd name="p0x5" fmla="*/ 4125 w 4125"/>
              <a:gd name="p0y5" fmla="*/ 6180 h 6420"/>
              <a:gd name="p0x6" fmla="*/ 4125 w 4125"/>
              <a:gd name="p0y6" fmla="*/ 6312 h 6420"/>
              <a:gd name="p0x7" fmla="*/ 4017 w 4125"/>
              <a:gd name="p0y7" fmla="*/ 6420 h 6420"/>
              <a:gd name="p0x8" fmla="*/ 3885 w 4125"/>
              <a:gd name="p0y8" fmla="*/ 6420 h 6420"/>
              <a:gd name="p0x9" fmla="*/ 240 w 4125"/>
              <a:gd name="p0y9" fmla="*/ 6420 h 6420"/>
              <a:gd name="p0x10" fmla="*/ 107 w 4125"/>
              <a:gd name="p0y10" fmla="*/ 6420 h 6420"/>
              <a:gd name="p0x11" fmla="*/ 0 w 4125"/>
              <a:gd name="p0y11" fmla="*/ 6312 h 6420"/>
              <a:gd name="p0x12" fmla="*/ 0 w 4125"/>
              <a:gd name="p0y12" fmla="*/ 6180 h 6420"/>
              <a:gd name="p0x13" fmla="*/ 0 w 4125"/>
              <a:gd name="p0y13" fmla="*/ 240 h 6420"/>
              <a:gd name="p0x14" fmla="*/ 0 w 4125"/>
              <a:gd name="p0y14" fmla="*/ 107 h 6420"/>
              <a:gd name="p0x15" fmla="*/ 107 w 4125"/>
              <a:gd name="p0y15" fmla="*/ 0 h 6420"/>
              <a:gd name="p0x16" fmla="*/ 240 w 4125"/>
              <a:gd name="p0y16" fmla="*/ 0 h 6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>
            <a:noFill/>
          </a:ln>
          <a:effectLst>
            <a:outerShdw blurRad="171450" dist="38100" dir="5399999" algn="ctr" rotWithShape="0">
              <a:srgbClr val="4A6FA5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32"/>
            </p:custDataLst>
          </p:nvPr>
        </p:nvSpPr>
        <p:spPr>
          <a:xfrm>
            <a:off x="3838575" y="2665095"/>
            <a:ext cx="1786890" cy="3987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六维学习画像</a:t>
            </a:r>
            <a:endParaRPr sz="2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3"/>
            </p:custDataLst>
          </p:nvPr>
        </p:nvSpPr>
        <p:spPr>
          <a:xfrm>
            <a:off x="3590925" y="31242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FA5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3629025" y="3175635"/>
            <a:ext cx="152400" cy="15240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7"/>
            </p:custDataLst>
          </p:nvPr>
        </p:nvSpPr>
        <p:spPr>
          <a:xfrm>
            <a:off x="3914775" y="3134757"/>
            <a:ext cx="1895475" cy="2562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4A6FA5"/>
                </a:solidFill>
                <a:latin typeface="微软雅黑" panose="020B0503020204020204" charset="-122"/>
                <a:ea typeface="微软雅黑" panose="020B0503020204020204" charset="-122"/>
              </a:rPr>
              <a:t>初学者</a:t>
            </a:r>
            <a:endParaRPr sz="1350" b="1">
              <a:solidFill>
                <a:srgbClr val="4A6FA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8"/>
            </p:custDataLst>
          </p:nvPr>
        </p:nvSpPr>
        <p:spPr>
          <a:xfrm>
            <a:off x="3914775" y="3498771"/>
            <a:ext cx="1895475" cy="7676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系统重点关注基础扎实度、知识掌握度、错误规避力，识别薄弱知识点</a:t>
            </a:r>
            <a:endParaRPr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9"/>
            </p:custDataLst>
          </p:nvPr>
        </p:nvSpPr>
        <p:spPr>
          <a:xfrm>
            <a:off x="3571875" y="48755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FA5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>
            <a:fillRect/>
          </a:stretch>
        </p:blipFill>
        <p:spPr>
          <a:xfrm>
            <a:off x="3629025" y="4932680"/>
            <a:ext cx="152400" cy="15240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3"/>
            </p:custDataLst>
          </p:nvPr>
        </p:nvSpPr>
        <p:spPr>
          <a:xfrm>
            <a:off x="3914775" y="4852569"/>
            <a:ext cx="1895475" cy="2562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进阶学员</a:t>
            </a:r>
            <a:endParaRPr sz="13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4"/>
            </p:custDataLst>
          </p:nvPr>
        </p:nvSpPr>
        <p:spPr>
          <a:xfrm>
            <a:off x="3914775" y="5107362"/>
            <a:ext cx="1895475" cy="7676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系统重点关注自主学习性、方法适配度、目标明确度，挖掘提升空间</a:t>
            </a:r>
            <a:endParaRPr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5"/>
            </p:custDataLst>
          </p:nvPr>
        </p:nvSpPr>
        <p:spPr>
          <a:xfrm>
            <a:off x="6191250" y="2400300"/>
            <a:ext cx="2619375" cy="4076700"/>
          </a:xfrm>
          <a:custGeom>
            <a:avLst/>
            <a:gdLst>
              <a:gd name="sw" fmla="*/ 1 w 4125"/>
              <a:gd name="sh" fmla="*/ 1 h 6420"/>
              <a:gd name="mins" fmla="min sw sh"/>
              <a:gd name="dsw" fmla="+- 0 sw mins"/>
              <a:gd name="dsh" fmla="+- 0 sh mins"/>
              <a:gd name="p0x0" fmla="*/ 240 w 4125"/>
              <a:gd name="p0y0" fmla="*/ 0 h 6420"/>
              <a:gd name="p0x1" fmla="*/ 3885 w 4125"/>
              <a:gd name="p0y1" fmla="*/ 0 h 6420"/>
              <a:gd name="p0x2" fmla="*/ 4017 w 4125"/>
              <a:gd name="p0y2" fmla="*/ 0 h 6420"/>
              <a:gd name="p0x3" fmla="*/ 4125 w 4125"/>
              <a:gd name="p0y3" fmla="*/ 107 h 6420"/>
              <a:gd name="p0x4" fmla="*/ 4125 w 4125"/>
              <a:gd name="p0y4" fmla="*/ 240 h 6420"/>
              <a:gd name="p0x5" fmla="*/ 4125 w 4125"/>
              <a:gd name="p0y5" fmla="*/ 6180 h 6420"/>
              <a:gd name="p0x6" fmla="*/ 4125 w 4125"/>
              <a:gd name="p0y6" fmla="*/ 6312 h 6420"/>
              <a:gd name="p0x7" fmla="*/ 4017 w 4125"/>
              <a:gd name="p0y7" fmla="*/ 6420 h 6420"/>
              <a:gd name="p0x8" fmla="*/ 3885 w 4125"/>
              <a:gd name="p0y8" fmla="*/ 6420 h 6420"/>
              <a:gd name="p0x9" fmla="*/ 240 w 4125"/>
              <a:gd name="p0y9" fmla="*/ 6420 h 6420"/>
              <a:gd name="p0x10" fmla="*/ 107 w 4125"/>
              <a:gd name="p0y10" fmla="*/ 6420 h 6420"/>
              <a:gd name="p0x11" fmla="*/ 0 w 4125"/>
              <a:gd name="p0y11" fmla="*/ 6312 h 6420"/>
              <a:gd name="p0x12" fmla="*/ 0 w 4125"/>
              <a:gd name="p0y12" fmla="*/ 6180 h 6420"/>
              <a:gd name="p0x13" fmla="*/ 0 w 4125"/>
              <a:gd name="p0y13" fmla="*/ 240 h 6420"/>
              <a:gd name="p0x14" fmla="*/ 0 w 4125"/>
              <a:gd name="p0y14" fmla="*/ 107 h 6420"/>
              <a:gd name="p0x15" fmla="*/ 107 w 4125"/>
              <a:gd name="p0y15" fmla="*/ 0 h 6420"/>
              <a:gd name="p0x16" fmla="*/ 240 w 4125"/>
              <a:gd name="p0y16" fmla="*/ 0 h 6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>
            <a:noFill/>
          </a:ln>
          <a:effectLst>
            <a:outerShdw blurRad="171450" dist="38100" dir="5399999" algn="ctr" rotWithShape="0">
              <a:srgbClr val="4A6FA5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6"/>
            </p:custDataLst>
          </p:nvPr>
        </p:nvSpPr>
        <p:spPr>
          <a:xfrm>
            <a:off x="6438583" y="2664901"/>
            <a:ext cx="2133600" cy="3990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个性化学习路径</a:t>
            </a:r>
            <a:endParaRPr sz="2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7"/>
            </p:custDataLst>
          </p:nvPr>
        </p:nvSpPr>
        <p:spPr>
          <a:xfrm>
            <a:off x="6438900" y="31349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FA5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>
          <a:xfrm>
            <a:off x="6496050" y="3175635"/>
            <a:ext cx="152400" cy="1524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51"/>
            </p:custDataLst>
          </p:nvPr>
        </p:nvSpPr>
        <p:spPr>
          <a:xfrm>
            <a:off x="6781800" y="3134757"/>
            <a:ext cx="1895475" cy="2562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4A6FA5"/>
                </a:solidFill>
                <a:latin typeface="微软雅黑" panose="020B0503020204020204" charset="-122"/>
                <a:ea typeface="微软雅黑" panose="020B0503020204020204" charset="-122"/>
              </a:rPr>
              <a:t>初学者</a:t>
            </a:r>
            <a:endParaRPr sz="1350" b="1">
              <a:solidFill>
                <a:srgbClr val="4A6FA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52"/>
            </p:custDataLst>
          </p:nvPr>
        </p:nvSpPr>
        <p:spPr>
          <a:xfrm>
            <a:off x="6724650" y="3498771"/>
            <a:ext cx="1895475" cy="7676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自动规划基础学习路线，增加知识巩固、练习训练和错题复盘任务</a:t>
            </a:r>
            <a:endParaRPr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53"/>
            </p:custDataLst>
          </p:nvPr>
        </p:nvSpPr>
        <p:spPr>
          <a:xfrm>
            <a:off x="6381750" y="48755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FA5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t="-7143" b="-7143"/>
          <a:stretch>
            <a:fillRect/>
          </a:stretch>
        </p:blipFill>
        <p:spPr>
          <a:xfrm>
            <a:off x="6438900" y="4932680"/>
            <a:ext cx="152400" cy="1524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7"/>
            </p:custDataLst>
          </p:nvPr>
        </p:nvSpPr>
        <p:spPr>
          <a:xfrm>
            <a:off x="6724650" y="4852569"/>
            <a:ext cx="1895475" cy="2562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进阶学员</a:t>
            </a:r>
            <a:endParaRPr sz="13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8"/>
            </p:custDataLst>
          </p:nvPr>
        </p:nvSpPr>
        <p:spPr>
          <a:xfrm>
            <a:off x="6724650" y="5107362"/>
            <a:ext cx="1895475" cy="7676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自动减少基础内容，增加项目实践、综合任务和拓展学习内容</a:t>
            </a:r>
            <a:endParaRPr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9"/>
            </p:custDataLst>
          </p:nvPr>
        </p:nvSpPr>
        <p:spPr>
          <a:xfrm>
            <a:off x="9001125" y="2400300"/>
            <a:ext cx="2619375" cy="4076700"/>
          </a:xfrm>
          <a:custGeom>
            <a:avLst/>
            <a:gdLst>
              <a:gd name="sw" fmla="*/ 1 w 4125"/>
              <a:gd name="sh" fmla="*/ 1 h 6420"/>
              <a:gd name="mins" fmla="min sw sh"/>
              <a:gd name="dsw" fmla="+- 0 sw mins"/>
              <a:gd name="dsh" fmla="+- 0 sh mins"/>
              <a:gd name="p0x0" fmla="*/ 240 w 4125"/>
              <a:gd name="p0y0" fmla="*/ 0 h 6420"/>
              <a:gd name="p0x1" fmla="*/ 3885 w 4125"/>
              <a:gd name="p0y1" fmla="*/ 0 h 6420"/>
              <a:gd name="p0x2" fmla="*/ 4017 w 4125"/>
              <a:gd name="p0y2" fmla="*/ 0 h 6420"/>
              <a:gd name="p0x3" fmla="*/ 4125 w 4125"/>
              <a:gd name="p0y3" fmla="*/ 107 h 6420"/>
              <a:gd name="p0x4" fmla="*/ 4125 w 4125"/>
              <a:gd name="p0y4" fmla="*/ 240 h 6420"/>
              <a:gd name="p0x5" fmla="*/ 4125 w 4125"/>
              <a:gd name="p0y5" fmla="*/ 6180 h 6420"/>
              <a:gd name="p0x6" fmla="*/ 4125 w 4125"/>
              <a:gd name="p0y6" fmla="*/ 6312 h 6420"/>
              <a:gd name="p0x7" fmla="*/ 4017 w 4125"/>
              <a:gd name="p0y7" fmla="*/ 6420 h 6420"/>
              <a:gd name="p0x8" fmla="*/ 3885 w 4125"/>
              <a:gd name="p0y8" fmla="*/ 6420 h 6420"/>
              <a:gd name="p0x9" fmla="*/ 240 w 4125"/>
              <a:gd name="p0y9" fmla="*/ 6420 h 6420"/>
              <a:gd name="p0x10" fmla="*/ 107 w 4125"/>
              <a:gd name="p0y10" fmla="*/ 6420 h 6420"/>
              <a:gd name="p0x11" fmla="*/ 0 w 4125"/>
              <a:gd name="p0y11" fmla="*/ 6312 h 6420"/>
              <a:gd name="p0x12" fmla="*/ 0 w 4125"/>
              <a:gd name="p0y12" fmla="*/ 6180 h 6420"/>
              <a:gd name="p0x13" fmla="*/ 0 w 4125"/>
              <a:gd name="p0y13" fmla="*/ 240 h 6420"/>
              <a:gd name="p0x14" fmla="*/ 0 w 4125"/>
              <a:gd name="p0y14" fmla="*/ 107 h 6420"/>
              <a:gd name="p0x15" fmla="*/ 107 w 4125"/>
              <a:gd name="p0y15" fmla="*/ 0 h 6420"/>
              <a:gd name="p0x16" fmla="*/ 240 w 4125"/>
              <a:gd name="p0y16" fmla="*/ 0 h 6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4902"/>
            </a:srgbClr>
          </a:solidFill>
          <a:ln>
            <a:noFill/>
          </a:ln>
          <a:effectLst>
            <a:outerShdw blurRad="171450" dist="38100" dir="5399999" algn="ctr" rotWithShape="0">
              <a:srgbClr val="4A6FA5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60"/>
            </p:custDataLst>
          </p:nvPr>
        </p:nvSpPr>
        <p:spPr>
          <a:xfrm>
            <a:off x="9400858" y="2664879"/>
            <a:ext cx="1866900" cy="3990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学习资源推荐</a:t>
            </a:r>
            <a:endParaRPr sz="2100" b="1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61"/>
            </p:custDataLst>
          </p:nvPr>
        </p:nvSpPr>
        <p:spPr>
          <a:xfrm>
            <a:off x="9191625" y="31242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FA5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>
            <a:fillRect/>
          </a:stretch>
        </p:blipFill>
        <p:spPr>
          <a:xfrm>
            <a:off x="9267825" y="3175635"/>
            <a:ext cx="133350" cy="15240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65"/>
            </p:custDataLst>
          </p:nvPr>
        </p:nvSpPr>
        <p:spPr>
          <a:xfrm>
            <a:off x="9534525" y="3123927"/>
            <a:ext cx="1895475" cy="2562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4A6FA5"/>
                </a:solidFill>
                <a:latin typeface="微软雅黑" panose="020B0503020204020204" charset="-122"/>
                <a:ea typeface="微软雅黑" panose="020B0503020204020204" charset="-122"/>
              </a:rPr>
              <a:t>初学者</a:t>
            </a:r>
            <a:endParaRPr sz="1350" b="1">
              <a:solidFill>
                <a:srgbClr val="4A6FA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66"/>
            </p:custDataLst>
          </p:nvPr>
        </p:nvSpPr>
        <p:spPr>
          <a:xfrm>
            <a:off x="9578340" y="3498736"/>
            <a:ext cx="1895475" cy="7676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推荐入门教程、基础案例、思维导图、分步练习，降低学习门槛</a:t>
            </a:r>
            <a:endParaRPr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67"/>
            </p:custDataLst>
          </p:nvPr>
        </p:nvSpPr>
        <p:spPr>
          <a:xfrm>
            <a:off x="9191625" y="48755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FA5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>
            <a:fillRect/>
          </a:stretch>
        </p:blipFill>
        <p:spPr>
          <a:xfrm>
            <a:off x="9267825" y="4932680"/>
            <a:ext cx="152400" cy="15240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71"/>
            </p:custDataLst>
          </p:nvPr>
        </p:nvSpPr>
        <p:spPr>
          <a:xfrm>
            <a:off x="9534525" y="4886188"/>
            <a:ext cx="1895475" cy="2562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进阶学员</a:t>
            </a:r>
            <a:endParaRPr sz="135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72"/>
            </p:custDataLst>
          </p:nvPr>
        </p:nvSpPr>
        <p:spPr>
          <a:xfrm>
            <a:off x="9458325" y="5142252"/>
            <a:ext cx="1895475" cy="523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400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</a:rPr>
              <a:t>推荐高级阅读、综合项目、实战案例，促进能力进阶</a:t>
            </a:r>
            <a:endParaRPr sz="1400">
              <a:solidFill>
                <a:srgbClr val="6666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29056" y="2526030"/>
            <a:ext cx="7644490" cy="18059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0" algn="l" defTabSz="914400">
              <a:lnSpc>
                <a:spcPct val="12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45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管理员端核心功能详解</a:t>
            </a:r>
            <a:endParaRPr lang="en-US" sz="45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766844" y="1072555"/>
            <a:ext cx="3112760" cy="113895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8400" b="1">
                <a:solidFill>
                  <a:schemeClr val="accent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8400" b="1">
              <a:solidFill>
                <a:schemeClr val="accent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管理后台首页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00000"/>
          </a:blip>
          <a:srcRect t="18257" b="18257"/>
          <a:stretch>
            <a:fillRect/>
          </a:stretch>
        </p:blipFill>
        <p:spPr>
          <a:xfrm>
            <a:off x="7991940" y="1518027"/>
            <a:ext cx="3605507" cy="228902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100000"/>
          </a:blip>
          <a:srcRect t="10311" b="10311"/>
          <a:stretch>
            <a:fillRect/>
          </a:stretch>
        </p:blipFill>
        <p:spPr>
          <a:xfrm>
            <a:off x="7991940" y="3957279"/>
            <a:ext cx="3605507" cy="2289021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>
            <a:off x="638095" y="3957279"/>
            <a:ext cx="3496249" cy="2289021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38095" y="1518027"/>
            <a:ext cx="3496249" cy="2289021"/>
          </a:xfrm>
          <a:prstGeom prst="rect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5301" y="1689543"/>
            <a:ext cx="3083593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8" name="TextBox 8"/>
          <p:cNvSpPr txBox="1"/>
          <p:nvPr/>
        </p:nvSpPr>
        <p:spPr>
          <a:xfrm>
            <a:off x="839326" y="1723147"/>
            <a:ext cx="2596996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核心指标展示</a:t>
            </a:r>
            <a:endParaRPr lang="en-US" sz="20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9326" y="2347530"/>
            <a:ext cx="3143676" cy="134217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首页顶部统计卡片集中展示注册用户总量、活跃用户数、总对话数、今日对话四种关键运营数据，帮助管理员快速掌握系统整体运行状况。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1405" y="1518027"/>
            <a:ext cx="3496249" cy="2289021"/>
          </a:xfrm>
          <a:prstGeom prst="rect">
            <a:avLst/>
          </a:prstGeom>
          <a:grpFill/>
          <a:ln w="12668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1" name="AutoShape 11"/>
          <p:cNvSpPr/>
          <p:nvPr/>
        </p:nvSpPr>
        <p:spPr>
          <a:xfrm>
            <a:off x="5549481" y="1689543"/>
            <a:ext cx="1619808" cy="493623"/>
          </a:xfrm>
          <a:prstGeom prst="rect">
            <a:avLst/>
          </a:prstGeom>
          <a:grpFill/>
        </p:spPr>
      </p:sp>
      <p:sp>
        <p:nvSpPr>
          <p:cNvPr id="12" name="AutoShape 12"/>
          <p:cNvSpPr/>
          <p:nvPr/>
        </p:nvSpPr>
        <p:spPr>
          <a:xfrm>
            <a:off x="4311405" y="3957279"/>
            <a:ext cx="3496249" cy="2289021"/>
          </a:xfrm>
          <a:prstGeom prst="rect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1405" y="1689543"/>
            <a:ext cx="3083593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4298610" y="4128795"/>
            <a:ext cx="3017058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5" name="TextBox 15"/>
          <p:cNvSpPr txBox="1"/>
          <p:nvPr/>
        </p:nvSpPr>
        <p:spPr>
          <a:xfrm>
            <a:off x="4512635" y="4176954"/>
            <a:ext cx="2596996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数据可视化</a:t>
            </a:r>
            <a:endParaRPr lang="en-US" sz="20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512635" y="4786783"/>
            <a:ext cx="3143676" cy="135547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通过图表形式直观呈现系统运行趋势，支持按时间维度筛选查看，为管理决策提供数据支持。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487691" y="2296401"/>
            <a:ext cx="3143676" cy="13933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下方设置用户管理、资源管理、内容审核、数据统计、系统设置五大核心模块入口，系统公告区域实时同步维护通知，提升运维操作效率。</a:t>
            </a:r>
            <a:endParaRPr lang="en-US" sz="14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487691" y="1723147"/>
            <a:ext cx="2596996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快捷入口设计</a:t>
            </a:r>
            <a:endParaRPr lang="en-US" sz="20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内容审核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00000"/>
          </a:blip>
          <a:srcRect t="22579" b="22579"/>
          <a:stretch>
            <a:fillRect/>
          </a:stretch>
        </p:blipFill>
        <p:spPr>
          <a:xfrm>
            <a:off x="7606811" y="1538721"/>
            <a:ext cx="3937263" cy="215926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100000"/>
          </a:blip>
          <a:srcRect t="20788" b="20788"/>
          <a:stretch>
            <a:fillRect/>
          </a:stretch>
        </p:blipFill>
        <p:spPr>
          <a:xfrm>
            <a:off x="7574874" y="3841961"/>
            <a:ext cx="3969200" cy="23189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95913" y="2366281"/>
            <a:ext cx="5822174" cy="1220464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待审核内容包含课程资料、题库、视频、智能体生成内容等，构建全方位内容安全防线。</a:t>
            </a:r>
            <a:endParaRPr lang="en-US" sz="16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95913" y="1789059"/>
            <a:ext cx="4219575" cy="738707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审核范围覆盖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95913" y="4637047"/>
            <a:ext cx="5822174" cy="1526528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6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支持逐条预览内容详情并执行通过/不通过操作，审核不通过需填写拒绝原因，形成闭环反馈机制。</a:t>
            </a:r>
            <a:endParaRPr lang="en-US" sz="16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95913" y="4040525"/>
            <a:ext cx="4219575" cy="73687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审核流程规范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55545" y="2094667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5545" y="4338915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1045" y="2016336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2" name="AutoShape 12"/>
          <p:cNvSpPr/>
          <p:nvPr/>
        </p:nvSpPr>
        <p:spPr>
          <a:xfrm>
            <a:off x="661045" y="4251935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29056" y="2526030"/>
            <a:ext cx="7644490" cy="18059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lang="en-US" sz="45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项目总结与未来展望</a:t>
            </a:r>
            <a:endParaRPr lang="en-US" sz="45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766844" y="1072555"/>
            <a:ext cx="3112760" cy="113895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8400" b="1">
                <a:solidFill>
                  <a:schemeClr val="accent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lang="en-US" sz="8400" b="1">
              <a:solidFill>
                <a:schemeClr val="accent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4909" y="1907184"/>
            <a:ext cx="3648075" cy="47775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无感画像构建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034635" y="1906360"/>
            <a:ext cx="3648075" cy="47940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对话即画像迭代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34909" y="2402205"/>
            <a:ext cx="3648075" cy="143773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通过对话交互和行为埋点技术，后台静默生成六维学习画像，无需学生手动填写问卷，实现零干扰学习流程的创新数据采集方式。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034635" y="2402205"/>
            <a:ext cx="3648075" cy="138980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将智能辅导对话作为核心数据源，每次问答实时优化画像精度，形成“越用越懂学生”的动态反馈机制，提升个性化推荐的准确性。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核心创新点总结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34909" y="4442458"/>
            <a:ext cx="3648075" cy="47775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画像驱动的差异化供给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534909" y="4964243"/>
            <a:ext cx="3648075" cy="142221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marL="0" algn="l" defTabSz="914400">
              <a:lnSpc>
                <a:spcPct val="14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以六维画像为决策中枢，实现学习资源、辅导策略和学习路径的完全个性化，不同画像学生获得的内容截然不同，真正达到“一人一策”。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034635" y="4441633"/>
            <a:ext cx="3648075" cy="47940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多智能体协作架构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034635" y="4964243"/>
            <a:ext cx="3648075" cy="142221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基于LangGraph实现讲解、出题、画像更新等专业分工的智能体协同，保障系统响应速度与推荐质量，突破传统单一智能体的局限性。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71754" y="1456718"/>
            <a:ext cx="3177621" cy="2383216"/>
          </a:xfrm>
          <a:prstGeom prst="round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 l="6944" r="6944"/>
          <a:stretch>
            <a:fillRect/>
          </a:stretch>
        </p:blipFill>
        <p:spPr>
          <a:xfrm>
            <a:off x="4471754" y="4003244"/>
            <a:ext cx="3177621" cy="2383216"/>
          </a:xfrm>
          <a:prstGeom prst="round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3272" r="3272"/>
          <a:stretch>
            <a:fillRect/>
          </a:stretch>
        </p:blipFill>
        <p:spPr>
          <a:xfrm>
            <a:off x="6279191" y="1523331"/>
            <a:ext cx="5083851" cy="487769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57248" y="1257891"/>
            <a:ext cx="5034045" cy="598924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维度拓展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57248" y="1880614"/>
            <a:ext cx="5034045" cy="109889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新增跨学科能力、协作学习能力等指标，完善六维画像体系，适配复合型人才培养需求，提升画像刻画的全息性。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57248" y="3016753"/>
            <a:ext cx="5034045" cy="558203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模态升级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57248" y="3593046"/>
            <a:ext cx="5034045" cy="122239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集成语音提问、手写作答等多模态交互方式，丰富数据采集维度，通过多源数据融合提升画像构建的准确性与全面性。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57248" y="4647635"/>
            <a:ext cx="5034045" cy="598924"/>
          </a:xfrm>
          <a:prstGeom prst="rect">
            <a:avLst/>
          </a:prstGeom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生态融合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57248" y="5264650"/>
            <a:ext cx="5034045" cy="119203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开放标准化API接口，对接高校教务系统和第三方AI模型，实现教学数据互通与引擎灵活替换，构建全场景智能教学生态。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marL="0" algn="l" defTabSz="914400">
              <a:lnSpc>
                <a:spcPct val="140000"/>
              </a:lnSpc>
              <a:defRPr sz="1800">
                <a:solidFill>
                  <a:schemeClr val="tx1"/>
                </a:solidFill>
                <a:latin typeface="等线" panose="02010600030101010101" charset="-122"/>
                <a:ea typeface="宋体" panose="02010600030101010101" pitchFamily="2" charset="-122"/>
                <a:cs typeface="+mn-cs"/>
              </a:defRPr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未来发展方向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9144095" y="2311241"/>
            <a:ext cx="41815" cy="41148"/>
          </a:xfrm>
          <a:prstGeom prst="ellipse">
            <a:avLst/>
          </a:prstGeom>
          <a:solidFill>
            <a:srgbClr val="E9E9E9">
              <a:alpha val="100000"/>
            </a:srgbClr>
          </a:solidFill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59856" y="1711076"/>
            <a:ext cx="7439025" cy="25146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6300" b="1">
                <a:solidFill>
                  <a:srgbClr val="4C678E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THANKS FOR WATCHING</a:t>
            </a:r>
            <a:endParaRPr lang="en-US" sz="6300" b="1">
              <a:solidFill>
                <a:srgbClr val="4C678E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73638" y="302919"/>
            <a:ext cx="482143" cy="482143"/>
          </a:xfrm>
          <a:prstGeom prst="ellipse">
            <a:avLst/>
          </a:prstGeom>
          <a:solidFill>
            <a:srgbClr val="4C678E">
              <a:alpha val="100000"/>
            </a:srgbClr>
          </a:solidFill>
        </p:spPr>
      </p:sp>
      <p:sp>
        <p:nvSpPr>
          <p:cNvPr id="4" name="Freeform 4"/>
          <p:cNvSpPr/>
          <p:nvPr/>
        </p:nvSpPr>
        <p:spPr>
          <a:xfrm>
            <a:off x="585431" y="395662"/>
            <a:ext cx="258557" cy="258557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2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3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4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5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6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7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8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9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10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11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12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13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14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15.xml><?xml version="1.0" encoding="utf-8"?>
<p:tagLst xmlns:p="http://schemas.openxmlformats.org/presentationml/2006/main">
  <p:tag name="KSO_WM_DIAGRAM_VIRTUALLY_FRAME" val="{&quot;height&quot;:340.6940157480315,&quot;left&quot;:51.55007874015748,&quot;top&quot;:126.98244094488189,&quot;width&quot;:850.0962204724408}"/>
</p:tagLst>
</file>

<file path=ppt/tags/tag1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404040"/>
      </a:dk1>
      <a:lt1>
        <a:srgbClr val="FFFFFF"/>
      </a:lt1>
      <a:dk2>
        <a:srgbClr val="4C678E"/>
      </a:dk2>
      <a:lt2>
        <a:srgbClr val="E1E7EE"/>
      </a:lt2>
      <a:accent1>
        <a:srgbClr val="4C678E"/>
      </a:accent1>
      <a:accent2>
        <a:srgbClr val="4C678E"/>
      </a:accent2>
      <a:accent3>
        <a:srgbClr val="587093"/>
      </a:accent3>
      <a:accent4>
        <a:srgbClr val="677FA2"/>
      </a:accent4>
      <a:accent5>
        <a:srgbClr val="7D94B4"/>
      </a:accent5>
      <a:accent6>
        <a:srgbClr val="8CA0BD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EFFFFD"/>
      </a:lt1>
      <a:dk2>
        <a:srgbClr val="003C35"/>
      </a:dk2>
      <a:lt2>
        <a:srgbClr val="FFFFFF"/>
      </a:lt2>
      <a:accent1>
        <a:srgbClr val="00A5B2"/>
      </a:accent1>
      <a:accent2>
        <a:srgbClr val="52C6B8"/>
      </a:accent2>
      <a:accent3>
        <a:srgbClr val="00657D"/>
      </a:accent3>
      <a:accent4>
        <a:srgbClr val="58C19B"/>
      </a:accent4>
      <a:accent5>
        <a:srgbClr val="6DD690"/>
      </a:accent5>
      <a:accent6>
        <a:srgbClr val="9CCAFF"/>
      </a:accent6>
      <a:hlink>
        <a:srgbClr val="05C6AF"/>
      </a:hlink>
      <a:folHlink>
        <a:srgbClr val="05C6A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4662</Words>
  <Application>WPS 演示</Application>
  <PresentationFormat>宽屏</PresentationFormat>
  <Paragraphs>438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Arial</vt:lpstr>
      <vt:lpstr>宋体</vt:lpstr>
      <vt:lpstr>Wingdings</vt:lpstr>
      <vt:lpstr>等线</vt:lpstr>
      <vt:lpstr>Noto Sans SC</vt:lpstr>
      <vt:lpstr>微软雅黑</vt:lpstr>
      <vt:lpstr>Arial Unicode MS</vt:lpstr>
      <vt:lpstr>等线 Light</vt:lpstr>
      <vt:lpstr>Calibri</vt:lpstr>
      <vt:lpstr>Calibri Light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十七</cp:lastModifiedBy>
  <cp:revision>4</cp:revision>
  <dcterms:created xsi:type="dcterms:W3CDTF">2025-10-20T11:38:00Z</dcterms:created>
  <dcterms:modified xsi:type="dcterms:W3CDTF">2026-07-19T03:41:20Z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0372D3E26F3D4E51A6B91BB6037F9836_12</vt:lpwstr>
  </property>
</Properties>
</file>